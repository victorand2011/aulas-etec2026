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11.png" ContentType="image/png"/>
  <Override PartName="/ppt/media/image8.png" ContentType="image/png"/>
  <Override PartName="/ppt/media/image10.png" ContentType="image/png"/>
  <Override PartName="/ppt/media/image9.png" ContentType="image/png"/>
  <Override PartName="/ppt/media/image12.png" ContentType="image/png"/>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_rels/slide22.xml.rels" ContentType="application/vnd.openxmlformats-package.relationships+xml"/>
  <Override PartName="/ppt/slides/_rels/slide35.xml.rels" ContentType="application/vnd.openxmlformats-package.relationships+xml"/>
  <Override PartName="/ppt/slides/_rels/slide18.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4.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lide de Título">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pt-BR" sz="6000" strike="noStrike" u="none">
                <a:solidFill>
                  <a:schemeClr val="dk1"/>
                </a:solidFill>
                <a:effectLst/>
                <a:uFillTx/>
                <a:latin typeface="Calibri Light"/>
              </a:rPr>
              <a:t>Clique para editar o título Mestre</a:t>
            </a:r>
            <a:endParaRPr b="0" lang="pt-BR" sz="6000" strike="noStrike" u="non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 </a:t>
            </a:r>
            <a:endParaRPr b="0" lang="pt-BR" sz="1200" strike="noStrike" u="non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 </a:t>
            </a:r>
            <a:endParaRPr b="0" lang="pt-BR" sz="1400" strike="noStrike" u="non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7D851C8D-2680-42E3-991D-933474503CE6}" type="slidenum">
              <a:rPr b="0" lang="pt-BR" sz="1200" strike="noStrike" u="none">
                <a:solidFill>
                  <a:schemeClr val="dk1">
                    <a:tint val="75000"/>
                  </a:schemeClr>
                </a:solidFill>
                <a:effectLst/>
                <a:uFillTx/>
                <a:latin typeface="Calibri"/>
              </a:rPr>
              <a:t>26</a:t>
            </a:fld>
            <a:endParaRPr b="0" lang="pt-BR" sz="1200" strike="noStrike" u="non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pt-BR" sz="2800" strike="noStrike" u="none">
                <a:solidFill>
                  <a:schemeClr val="dk1"/>
                </a:solidFill>
                <a:effectLst/>
                <a:uFillTx/>
                <a:latin typeface="Calibri"/>
              </a:rPr>
              <a:t>Clique para editar o formato de texto dos tópicos</a:t>
            </a:r>
            <a:endParaRPr b="0" lang="pt-BR" sz="28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pt-BR" sz="2000" strike="noStrike" u="none">
                <a:solidFill>
                  <a:schemeClr val="dk1"/>
                </a:solidFill>
                <a:effectLst/>
                <a:uFillTx/>
                <a:latin typeface="Calibri"/>
              </a:rPr>
              <a:t>2.º nível de tópicos</a:t>
            </a:r>
            <a:endParaRPr b="0" lang="pt-BR" sz="20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pt-BR" sz="1800" strike="noStrike" u="none">
                <a:solidFill>
                  <a:schemeClr val="dk1"/>
                </a:solidFill>
                <a:effectLst/>
                <a:uFillTx/>
                <a:latin typeface="Calibri"/>
              </a:rPr>
              <a:t>3.º nível de tópicos</a:t>
            </a:r>
            <a:endParaRPr b="0" lang="pt-BR" sz="18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pt-BR" sz="1800" strike="noStrike" u="none">
                <a:solidFill>
                  <a:schemeClr val="dk1"/>
                </a:solidFill>
                <a:effectLst/>
                <a:uFillTx/>
                <a:latin typeface="Calibri"/>
              </a:rPr>
              <a:t>4.º nível de tópicos</a:t>
            </a:r>
            <a:endParaRPr b="0" lang="pt-BR" sz="18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pt-BR" sz="2000" strike="noStrike" u="none">
                <a:solidFill>
                  <a:schemeClr val="dk1"/>
                </a:solidFill>
                <a:effectLst/>
                <a:uFillTx/>
                <a:latin typeface="Calibri"/>
              </a:rPr>
              <a:t>5.º nível de tópicos</a:t>
            </a:r>
            <a:endParaRPr b="0" lang="pt-BR" sz="20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pt-BR" sz="2000" strike="noStrike" u="none">
                <a:solidFill>
                  <a:schemeClr val="dk1"/>
                </a:solidFill>
                <a:effectLst/>
                <a:uFillTx/>
                <a:latin typeface="Calibri"/>
              </a:rPr>
              <a:t>6.º nível de tópicos</a:t>
            </a:r>
            <a:endParaRPr b="0" lang="pt-BR" sz="20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pt-BR" sz="2000" strike="noStrike" u="none">
                <a:solidFill>
                  <a:schemeClr val="dk1"/>
                </a:solidFill>
                <a:effectLst/>
                <a:uFillTx/>
                <a:latin typeface="Calibri"/>
              </a:rPr>
              <a:t>7.º nível de tópicos</a:t>
            </a:r>
            <a:endParaRPr b="0" lang="pt-BR" sz="2000" strike="noStrike" u="non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e Texto Vertical">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pt-BR" sz="4400" strike="noStrike" u="none">
                <a:solidFill>
                  <a:schemeClr val="dk1"/>
                </a:solidFill>
                <a:effectLst/>
                <a:uFillTx/>
                <a:latin typeface="Calibri Light"/>
              </a:rPr>
              <a:t>Clique para editar o título Mestre</a:t>
            </a:r>
            <a:endParaRPr b="0" lang="pt-BR" sz="4400" strike="noStrike" u="non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pt-BR" sz="2800" strike="noStrike" u="none">
                <a:solidFill>
                  <a:schemeClr val="dk1"/>
                </a:solidFill>
                <a:effectLst/>
                <a:uFillTx/>
                <a:latin typeface="Calibri"/>
              </a:rPr>
              <a:t>Clique para editar os estilos de texto Mestres</a:t>
            </a:r>
            <a:endParaRPr b="0" lang="pt-BR"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Segundo nível</a:t>
            </a:r>
            <a:endParaRPr b="0" lang="pt-BR"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Terceiro nível</a:t>
            </a:r>
            <a:endParaRPr b="0" lang="pt-BR"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Quarto nível</a:t>
            </a:r>
            <a:endParaRPr b="0" lang="pt-BR"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Quinto nível</a:t>
            </a:r>
            <a:endParaRPr b="0" lang="pt-BR" sz="1800" strike="noStrike" u="non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8BE4A85B-353D-46AF-8E63-0BA324E2B77E}"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exto e Título Vertical">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pt-BR" sz="4400" strike="noStrike" u="none">
                <a:solidFill>
                  <a:schemeClr val="dk1"/>
                </a:solidFill>
                <a:effectLst/>
                <a:uFillTx/>
                <a:latin typeface="Calibri Light"/>
              </a:rPr>
              <a:t>Clique para editar o título Mestre</a:t>
            </a:r>
            <a:endParaRPr b="0" lang="pt-BR" sz="4400" strike="noStrike" u="non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pt-BR" sz="2800" strike="noStrike" u="none">
                <a:solidFill>
                  <a:schemeClr val="dk1"/>
                </a:solidFill>
                <a:effectLst/>
                <a:uFillTx/>
                <a:latin typeface="Calibri"/>
              </a:rPr>
              <a:t>Clique para editar os estilos de texto Mestres</a:t>
            </a:r>
            <a:endParaRPr b="0" lang="pt-BR"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Segundo nível</a:t>
            </a:r>
            <a:endParaRPr b="0" lang="pt-BR"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Terceiro nível</a:t>
            </a:r>
            <a:endParaRPr b="0" lang="pt-BR"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Quarto nível</a:t>
            </a:r>
            <a:endParaRPr b="0" lang="pt-BR"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Quinto nível</a:t>
            </a:r>
            <a:endParaRPr b="0" lang="pt-BR" sz="1800" strike="noStrike" u="non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B9175693-AF95-431D-A3FA-9BA0D21D80CD}"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e Conteúdo">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pt-BR" sz="4400" strike="noStrike" u="none">
                <a:solidFill>
                  <a:schemeClr val="dk1"/>
                </a:solidFill>
                <a:effectLst/>
                <a:uFillTx/>
                <a:latin typeface="Calibri Light"/>
              </a:rPr>
              <a:t>Clique para editar o título Mestre</a:t>
            </a:r>
            <a:endParaRPr b="0" lang="pt-BR" sz="4400" strike="noStrike" u="non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pt-BR" sz="2800" strike="noStrike" u="none">
                <a:solidFill>
                  <a:schemeClr val="dk1"/>
                </a:solidFill>
                <a:effectLst/>
                <a:uFillTx/>
                <a:latin typeface="Calibri"/>
              </a:rPr>
              <a:t>Clique para editar os estilos de texto Mestres</a:t>
            </a:r>
            <a:endParaRPr b="0" lang="pt-BR"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Segundo nível</a:t>
            </a:r>
            <a:endParaRPr b="0" lang="pt-BR"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Terceiro nível</a:t>
            </a:r>
            <a:endParaRPr b="0" lang="pt-BR"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Quarto nível</a:t>
            </a:r>
            <a:endParaRPr b="0" lang="pt-BR"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Quinto nível</a:t>
            </a:r>
            <a:endParaRPr b="0" lang="pt-BR" sz="1800" strike="noStrike" u="non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F4191AA8-DFB0-4D06-94CA-DCAD5C4AC4ED}"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beçalho da Seção">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pt-BR" sz="6000" strike="noStrike" u="none">
                <a:solidFill>
                  <a:schemeClr val="dk1"/>
                </a:solidFill>
                <a:effectLst/>
                <a:uFillTx/>
                <a:latin typeface="Calibri Light"/>
              </a:rPr>
              <a:t>Clique para editar o título Mestre</a:t>
            </a:r>
            <a:endParaRPr b="0" lang="pt-BR" sz="6000" strike="noStrike" u="non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pt-BR" sz="2400" strike="noStrike" u="none">
                <a:solidFill>
                  <a:schemeClr val="dk1">
                    <a:tint val="75000"/>
                  </a:schemeClr>
                </a:solidFill>
                <a:effectLst/>
                <a:uFillTx/>
                <a:latin typeface="Calibri"/>
              </a:rPr>
              <a:t>Clique para editar os estilos de texto Mestres</a:t>
            </a:r>
            <a:endParaRPr b="0" lang="pt-BR" sz="2400" strike="noStrike" u="non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7010CD97-CB17-415E-9FDC-076120862C72}"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uas Partes de Conteúdo">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pt-BR" sz="4400" strike="noStrike" u="none">
                <a:solidFill>
                  <a:schemeClr val="dk1"/>
                </a:solidFill>
                <a:effectLst/>
                <a:uFillTx/>
                <a:latin typeface="Calibri Light"/>
              </a:rPr>
              <a:t>Clique para editar o título Mestre</a:t>
            </a:r>
            <a:endParaRPr b="0" lang="pt-BR" sz="4400" strike="noStrike" u="non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pt-BR" sz="2800" strike="noStrike" u="none">
                <a:solidFill>
                  <a:schemeClr val="dk1"/>
                </a:solidFill>
                <a:effectLst/>
                <a:uFillTx/>
                <a:latin typeface="Calibri"/>
              </a:rPr>
              <a:t>Clique para editar os estilos de texto Mestres</a:t>
            </a:r>
            <a:endParaRPr b="0" lang="pt-BR"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Segundo nível</a:t>
            </a:r>
            <a:endParaRPr b="0" lang="pt-BR"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Terceiro nível</a:t>
            </a:r>
            <a:endParaRPr b="0" lang="pt-BR"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Quarto nível</a:t>
            </a:r>
            <a:endParaRPr b="0" lang="pt-BR"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Quinto nível</a:t>
            </a:r>
            <a:endParaRPr b="0" lang="pt-BR" sz="1800" strike="noStrike" u="non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pt-BR" sz="2800" strike="noStrike" u="none">
                <a:solidFill>
                  <a:schemeClr val="dk1"/>
                </a:solidFill>
                <a:effectLst/>
                <a:uFillTx/>
                <a:latin typeface="Calibri"/>
              </a:rPr>
              <a:t>Clique para editar os estilos de texto Mestres</a:t>
            </a:r>
            <a:endParaRPr b="0" lang="pt-BR"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Segundo nível</a:t>
            </a:r>
            <a:endParaRPr b="0" lang="pt-BR"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Terceiro nível</a:t>
            </a:r>
            <a:endParaRPr b="0" lang="pt-BR"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Quarto nível</a:t>
            </a:r>
            <a:endParaRPr b="0" lang="pt-BR"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Quinto nível</a:t>
            </a:r>
            <a:endParaRPr b="0" lang="pt-BR" sz="1800" strike="noStrike" u="non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CEA16BFF-F7AD-442E-B1F6-DF538BF066F2}"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ção">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pt-BR" sz="4400" strike="noStrike" u="none">
                <a:solidFill>
                  <a:schemeClr val="dk1"/>
                </a:solidFill>
                <a:effectLst/>
                <a:uFillTx/>
                <a:latin typeface="Calibri Light"/>
              </a:rPr>
              <a:t>Clique para editar o título Mestre</a:t>
            </a:r>
            <a:endParaRPr b="0" lang="pt-BR" sz="4400" strike="noStrike" u="non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pt-BR" sz="2400" strike="noStrike" u="none">
                <a:solidFill>
                  <a:schemeClr val="dk1"/>
                </a:solidFill>
                <a:effectLst/>
                <a:uFillTx/>
                <a:latin typeface="Calibri"/>
              </a:rPr>
              <a:t>Clique para editar os estilos de texto Mestres</a:t>
            </a:r>
            <a:endParaRPr b="0" lang="pt-BR" sz="2400" strike="noStrike" u="non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pt-BR" sz="2800" strike="noStrike" u="none">
                <a:solidFill>
                  <a:schemeClr val="dk1"/>
                </a:solidFill>
                <a:effectLst/>
                <a:uFillTx/>
                <a:latin typeface="Calibri"/>
              </a:rPr>
              <a:t>Clique para editar os estilos de texto Mestres</a:t>
            </a:r>
            <a:endParaRPr b="0" lang="pt-BR"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Segundo nível</a:t>
            </a:r>
            <a:endParaRPr b="0" lang="pt-BR"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Terceiro nível</a:t>
            </a:r>
            <a:endParaRPr b="0" lang="pt-BR"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Quarto nível</a:t>
            </a:r>
            <a:endParaRPr b="0" lang="pt-BR"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Quinto nível</a:t>
            </a:r>
            <a:endParaRPr b="0" lang="pt-BR" sz="1800" strike="noStrike" u="non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pt-BR" sz="2400" strike="noStrike" u="none">
                <a:solidFill>
                  <a:schemeClr val="dk1"/>
                </a:solidFill>
                <a:effectLst/>
                <a:uFillTx/>
                <a:latin typeface="Calibri"/>
              </a:rPr>
              <a:t>Clique para editar os estilos de texto Mestres</a:t>
            </a:r>
            <a:endParaRPr b="0" lang="pt-BR" sz="2400" strike="noStrike" u="non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pt-BR" sz="2800" strike="noStrike" u="none">
                <a:solidFill>
                  <a:schemeClr val="dk1"/>
                </a:solidFill>
                <a:effectLst/>
                <a:uFillTx/>
                <a:latin typeface="Calibri"/>
              </a:rPr>
              <a:t>Clique para editar os estilos de texto Mestres</a:t>
            </a:r>
            <a:endParaRPr b="0" lang="pt-BR"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Segundo nível</a:t>
            </a:r>
            <a:endParaRPr b="0" lang="pt-BR"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Terceiro nível</a:t>
            </a:r>
            <a:endParaRPr b="0" lang="pt-BR"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Quarto nível</a:t>
            </a:r>
            <a:endParaRPr b="0" lang="pt-BR"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1800" strike="noStrike" u="none">
                <a:solidFill>
                  <a:schemeClr val="dk1"/>
                </a:solidFill>
                <a:effectLst/>
                <a:uFillTx/>
                <a:latin typeface="Calibri"/>
              </a:rPr>
              <a:t>Quinto nível</a:t>
            </a:r>
            <a:endParaRPr b="0" lang="pt-BR" sz="1800" strike="noStrike" u="non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59F3E59F-86B1-4BCB-B6C6-DD7EF2FD6BA1}"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mente Título">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pt-BR" sz="4400" strike="noStrike" u="none">
                <a:solidFill>
                  <a:schemeClr val="dk1"/>
                </a:solidFill>
                <a:effectLst/>
                <a:uFillTx/>
                <a:latin typeface="Calibri Light"/>
              </a:rPr>
              <a:t>Clique para editar o título Mestre</a:t>
            </a:r>
            <a:endParaRPr b="0" lang="pt-BR" sz="4400" strike="noStrike" u="non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D0A8111C-49E9-40FC-80C2-A72375652391}"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m Branco">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316A815E-F8D8-4B8F-81A2-81919A3F70D7}"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
        <p:nvSpPr>
          <p:cNvPr id="4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pt-BR" sz="1800" strike="noStrike" u="none">
                <a:solidFill>
                  <a:schemeClr val="dk1"/>
                </a:solidFill>
                <a:effectLst/>
                <a:uFillTx/>
                <a:latin typeface="Calibri"/>
              </a:rPr>
              <a:t>Clique para editar o formato do texto do título</a:t>
            </a:r>
            <a:endParaRPr b="0" lang="pt-BR" sz="1800" strike="noStrike" u="none">
              <a:solidFill>
                <a:schemeClr val="dk1"/>
              </a:solidFill>
              <a:effectLst/>
              <a:uFillTx/>
              <a:latin typeface="Calibri"/>
            </a:endParaRPr>
          </a:p>
        </p:txBody>
      </p:sp>
      <p:sp>
        <p:nvSpPr>
          <p:cNvPr id="4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pt-BR" sz="2800" strike="noStrike" u="none">
                <a:solidFill>
                  <a:schemeClr val="dk1"/>
                </a:solidFill>
                <a:effectLst/>
                <a:uFillTx/>
                <a:latin typeface="Calibri"/>
              </a:rPr>
              <a:t>Clique para editar o formato de texto dos tópicos</a:t>
            </a:r>
            <a:endParaRPr b="0" lang="pt-BR" sz="28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pt-BR" sz="2000" strike="noStrike" u="none">
                <a:solidFill>
                  <a:schemeClr val="dk1"/>
                </a:solidFill>
                <a:effectLst/>
                <a:uFillTx/>
                <a:latin typeface="Calibri"/>
              </a:rPr>
              <a:t>2.º nível de tópicos</a:t>
            </a:r>
            <a:endParaRPr b="0" lang="pt-BR" sz="20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pt-BR" sz="1800" strike="noStrike" u="none">
                <a:solidFill>
                  <a:schemeClr val="dk1"/>
                </a:solidFill>
                <a:effectLst/>
                <a:uFillTx/>
                <a:latin typeface="Calibri"/>
              </a:rPr>
              <a:t>3.º nível de tópicos</a:t>
            </a:r>
            <a:endParaRPr b="0" lang="pt-BR" sz="18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pt-BR" sz="1800" strike="noStrike" u="none">
                <a:solidFill>
                  <a:schemeClr val="dk1"/>
                </a:solidFill>
                <a:effectLst/>
                <a:uFillTx/>
                <a:latin typeface="Calibri"/>
              </a:rPr>
              <a:t>4.º nível de tópicos</a:t>
            </a:r>
            <a:endParaRPr b="0" lang="pt-BR" sz="18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pt-BR" sz="2000" strike="noStrike" u="none">
                <a:solidFill>
                  <a:schemeClr val="dk1"/>
                </a:solidFill>
                <a:effectLst/>
                <a:uFillTx/>
                <a:latin typeface="Calibri"/>
              </a:rPr>
              <a:t>5.º nível de tópicos</a:t>
            </a:r>
            <a:endParaRPr b="0" lang="pt-BR" sz="20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pt-BR" sz="2000" strike="noStrike" u="none">
                <a:solidFill>
                  <a:schemeClr val="dk1"/>
                </a:solidFill>
                <a:effectLst/>
                <a:uFillTx/>
                <a:latin typeface="Calibri"/>
              </a:rPr>
              <a:t>6.º nível de tópicos</a:t>
            </a:r>
            <a:endParaRPr b="0" lang="pt-BR" sz="20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pt-BR" sz="2000" strike="noStrike" u="none">
                <a:solidFill>
                  <a:schemeClr val="dk1"/>
                </a:solidFill>
                <a:effectLst/>
                <a:uFillTx/>
                <a:latin typeface="Calibri"/>
              </a:rPr>
              <a:t>7.º nível de tópicos</a:t>
            </a:r>
            <a:endParaRPr b="0" lang="pt-BR"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údo com Legenda">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pt-BR" sz="3200" strike="noStrike" u="none">
                <a:solidFill>
                  <a:schemeClr val="dk1"/>
                </a:solidFill>
                <a:effectLst/>
                <a:uFillTx/>
                <a:latin typeface="Calibri Light"/>
              </a:rPr>
              <a:t>Clique para editar o título Mestre</a:t>
            </a:r>
            <a:endParaRPr b="0" lang="pt-BR" sz="3200" strike="noStrike" u="none">
              <a:solidFill>
                <a:schemeClr val="dk1"/>
              </a:solidFill>
              <a:effectLst/>
              <a:uFillTx/>
              <a:latin typeface="Calibri"/>
            </a:endParaRPr>
          </a:p>
        </p:txBody>
      </p:sp>
      <p:sp>
        <p:nvSpPr>
          <p:cNvPr id="51"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pt-BR" sz="3200" strike="noStrike" u="none">
                <a:solidFill>
                  <a:schemeClr val="dk1"/>
                </a:solidFill>
                <a:effectLst/>
                <a:uFillTx/>
                <a:latin typeface="Calibri"/>
              </a:rPr>
              <a:t>Clique para editar os estilos de texto Mestres</a:t>
            </a:r>
            <a:endParaRPr b="0" lang="pt-BR" sz="32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pt-BR" sz="2800" strike="noStrike" u="none">
                <a:solidFill>
                  <a:schemeClr val="dk1"/>
                </a:solidFill>
                <a:effectLst/>
                <a:uFillTx/>
                <a:latin typeface="Calibri"/>
              </a:rPr>
              <a:t>Segundo nível</a:t>
            </a:r>
            <a:endParaRPr b="0" lang="pt-BR" sz="28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pt-BR" sz="2400" strike="noStrike" u="none">
                <a:solidFill>
                  <a:schemeClr val="dk1"/>
                </a:solidFill>
                <a:effectLst/>
                <a:uFillTx/>
                <a:latin typeface="Calibri"/>
              </a:rPr>
              <a:t>Terceiro nível</a:t>
            </a:r>
            <a:endParaRPr b="0" lang="pt-BR" sz="24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Quarto nível</a:t>
            </a:r>
            <a:endParaRPr b="0" lang="pt-BR" sz="20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pt-BR" sz="2000" strike="noStrike" u="none">
                <a:solidFill>
                  <a:schemeClr val="dk1"/>
                </a:solidFill>
                <a:effectLst/>
                <a:uFillTx/>
                <a:latin typeface="Calibri"/>
              </a:rPr>
              <a:t>Quinto nível</a:t>
            </a:r>
            <a:endParaRPr b="0" lang="pt-BR" sz="2000" strike="noStrike" u="none">
              <a:solidFill>
                <a:schemeClr val="dk1"/>
              </a:solidFill>
              <a:effectLst/>
              <a:uFillTx/>
              <a:latin typeface="Calibri"/>
            </a:endParaRPr>
          </a:p>
        </p:txBody>
      </p:sp>
      <p:sp>
        <p:nvSpPr>
          <p:cNvPr id="52"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pt-BR" sz="1600" strike="noStrike" u="none">
                <a:solidFill>
                  <a:schemeClr val="dk1"/>
                </a:solidFill>
                <a:effectLst/>
                <a:uFillTx/>
                <a:latin typeface="Calibri"/>
              </a:rPr>
              <a:t>Clique para editar os estilos de texto Mestres</a:t>
            </a:r>
            <a:endParaRPr b="0" lang="pt-BR" sz="1600" strike="noStrike" u="none">
              <a:solidFill>
                <a:schemeClr val="dk1"/>
              </a:solidFill>
              <a:effectLst/>
              <a:uFillTx/>
              <a:latin typeface="Calibri"/>
            </a:endParaRPr>
          </a:p>
        </p:txBody>
      </p:sp>
      <p:sp>
        <p:nvSpPr>
          <p:cNvPr id="53"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54"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55"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B02CD28C-7468-4F6F-868A-CD467C7E8836}"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m com Legenda">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pt-BR" sz="3200" strike="noStrike" u="none">
                <a:solidFill>
                  <a:schemeClr val="dk1"/>
                </a:solidFill>
                <a:effectLst/>
                <a:uFillTx/>
                <a:latin typeface="Calibri Light"/>
              </a:rPr>
              <a:t>Clique para editar o título Mestre</a:t>
            </a:r>
            <a:endParaRPr b="0" lang="pt-BR" sz="3200" strike="noStrike" u="none">
              <a:solidFill>
                <a:schemeClr val="dk1"/>
              </a:solidFill>
              <a:effectLst/>
              <a:uFillTx/>
              <a:latin typeface="Calibri"/>
            </a:endParaRPr>
          </a:p>
        </p:txBody>
      </p:sp>
      <p:sp>
        <p:nvSpPr>
          <p:cNvPr id="57"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pt-BR" sz="3200" strike="noStrike" u="none">
                <a:solidFill>
                  <a:schemeClr val="dk1"/>
                </a:solidFill>
                <a:effectLst/>
                <a:uFillTx/>
                <a:latin typeface="Calibri"/>
              </a:rPr>
              <a:t>Clique para editar o formato de texto dos tópicos</a:t>
            </a:r>
            <a:endParaRPr b="0" lang="pt-BR" sz="32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pt-BR" sz="3200" strike="noStrike" u="none">
                <a:solidFill>
                  <a:schemeClr val="dk1"/>
                </a:solidFill>
                <a:effectLst/>
                <a:uFillTx/>
                <a:latin typeface="Calibri"/>
              </a:rPr>
              <a:t>2.º nível de tópicos</a:t>
            </a:r>
            <a:endParaRPr b="0" lang="pt-BR" sz="32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pt-BR" sz="3200" strike="noStrike" u="none">
                <a:solidFill>
                  <a:schemeClr val="dk1"/>
                </a:solidFill>
                <a:effectLst/>
                <a:uFillTx/>
                <a:latin typeface="Calibri"/>
              </a:rPr>
              <a:t>3.º nível de tópicos</a:t>
            </a:r>
            <a:endParaRPr b="0" lang="pt-BR" sz="32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pt-BR" sz="3200" strike="noStrike" u="none">
                <a:solidFill>
                  <a:schemeClr val="dk1"/>
                </a:solidFill>
                <a:effectLst/>
                <a:uFillTx/>
                <a:latin typeface="Calibri"/>
              </a:rPr>
              <a:t>4.º nível de tópicos</a:t>
            </a:r>
            <a:endParaRPr b="0" lang="pt-BR" sz="32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pt-BR" sz="3200" strike="noStrike" u="none">
                <a:solidFill>
                  <a:schemeClr val="dk1"/>
                </a:solidFill>
                <a:effectLst/>
                <a:uFillTx/>
                <a:latin typeface="Calibri"/>
              </a:rPr>
              <a:t>5.º nível de tópicos</a:t>
            </a:r>
            <a:endParaRPr b="0" lang="pt-BR" sz="32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pt-BR" sz="3200" strike="noStrike" u="none">
                <a:solidFill>
                  <a:schemeClr val="dk1"/>
                </a:solidFill>
                <a:effectLst/>
                <a:uFillTx/>
                <a:latin typeface="Calibri"/>
              </a:rPr>
              <a:t>6.º nível de tópicos</a:t>
            </a:r>
            <a:endParaRPr b="0" lang="pt-BR" sz="32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pt-BR" sz="3200" strike="noStrike" u="none">
                <a:solidFill>
                  <a:schemeClr val="dk1"/>
                </a:solidFill>
                <a:effectLst/>
                <a:uFillTx/>
                <a:latin typeface="Calibri"/>
              </a:rPr>
              <a:t>7.º nível de tópicos</a:t>
            </a:r>
            <a:endParaRPr b="0" lang="pt-BR" sz="3200" strike="noStrike" u="none">
              <a:solidFill>
                <a:schemeClr val="dk1"/>
              </a:solidFill>
              <a:effectLst/>
              <a:uFillTx/>
              <a:latin typeface="Calibri"/>
            </a:endParaRPr>
          </a:p>
        </p:txBody>
      </p:sp>
      <p:sp>
        <p:nvSpPr>
          <p:cNvPr id="58"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pt-BR" sz="1600" strike="noStrike" u="none">
                <a:solidFill>
                  <a:schemeClr val="dk1"/>
                </a:solidFill>
                <a:effectLst/>
                <a:uFillTx/>
                <a:latin typeface="Calibri"/>
              </a:rPr>
              <a:t>Clique para editar os estilos de texto Mestres</a:t>
            </a:r>
            <a:endParaRPr b="0" lang="pt-BR" sz="1600" strike="noStrike" u="none">
              <a:solidFill>
                <a:schemeClr val="dk1"/>
              </a:solidFill>
              <a:effectLst/>
              <a:uFillTx/>
              <a:latin typeface="Calibri"/>
            </a:endParaRPr>
          </a:p>
        </p:txBody>
      </p:sp>
      <p:sp>
        <p:nvSpPr>
          <p:cNvPr id="59"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pt-BR" sz="1200" strike="noStrike" u="none">
                <a:solidFill>
                  <a:schemeClr val="dk1">
                    <a:tint val="75000"/>
                  </a:schemeClr>
                </a:solidFill>
                <a:effectLst/>
                <a:uFillTx/>
                <a:latin typeface="Calibri"/>
              </a:defRPr>
            </a:lvl1pPr>
          </a:lstStyle>
          <a:p>
            <a:pPr indent="0" defTabSz="914400">
              <a:lnSpc>
                <a:spcPct val="100000"/>
              </a:lnSpc>
              <a:buNone/>
            </a:pPr>
            <a:r>
              <a:rPr b="0" lang="pt-BR" sz="1200" strike="noStrike" u="none">
                <a:solidFill>
                  <a:schemeClr val="dk1">
                    <a:tint val="75000"/>
                  </a:schemeClr>
                </a:solidFill>
                <a:effectLst/>
                <a:uFillTx/>
                <a:latin typeface="Calibri"/>
              </a:rPr>
              <a:t>&lt;data/hora&gt;</a:t>
            </a:r>
            <a:endParaRPr b="0" lang="pt-BR" sz="1200" strike="noStrike" u="none">
              <a:solidFill>
                <a:srgbClr val="000000"/>
              </a:solidFill>
              <a:effectLst/>
              <a:uFillTx/>
              <a:latin typeface="Times New Roman"/>
            </a:endParaRPr>
          </a:p>
        </p:txBody>
      </p:sp>
      <p:sp>
        <p:nvSpPr>
          <p:cNvPr id="60"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pt-BR" sz="1400" strike="noStrike" u="none">
                <a:solidFill>
                  <a:srgbClr val="000000"/>
                </a:solidFill>
                <a:effectLst/>
                <a:uFillTx/>
                <a:latin typeface="Times New Roman"/>
              </a:defRPr>
            </a:lvl1pPr>
          </a:lstStyle>
          <a:p>
            <a:pPr indent="0" algn="ctr">
              <a:buNone/>
            </a:pPr>
            <a:r>
              <a:rPr b="0" lang="pt-BR" sz="1400" strike="noStrike" u="none">
                <a:solidFill>
                  <a:srgbClr val="000000"/>
                </a:solidFill>
                <a:effectLst/>
                <a:uFillTx/>
                <a:latin typeface="Times New Roman"/>
              </a:rPr>
              <a:t>&lt;rodapé&gt;</a:t>
            </a:r>
            <a:endParaRPr b="0" lang="pt-BR" sz="1400" strike="noStrike" u="none">
              <a:solidFill>
                <a:srgbClr val="000000"/>
              </a:solidFill>
              <a:effectLst/>
              <a:uFillTx/>
              <a:latin typeface="Times New Roman"/>
            </a:endParaRPr>
          </a:p>
        </p:txBody>
      </p:sp>
      <p:sp>
        <p:nvSpPr>
          <p:cNvPr id="61"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pt-BR" sz="1200" strike="noStrike" u="none">
                <a:solidFill>
                  <a:schemeClr val="dk1">
                    <a:tint val="75000"/>
                  </a:schemeClr>
                </a:solidFill>
                <a:effectLst/>
                <a:uFillTx/>
                <a:latin typeface="Calibri"/>
              </a:defRPr>
            </a:lvl1pPr>
          </a:lstStyle>
          <a:p>
            <a:pPr indent="0" algn="r" defTabSz="914400">
              <a:lnSpc>
                <a:spcPct val="100000"/>
              </a:lnSpc>
              <a:buNone/>
            </a:pPr>
            <a:fld id="{B5149EBF-670A-4ABC-B935-6227CDEC388E}" type="slidenum">
              <a:rPr b="0" lang="pt-BR" sz="1200" strike="noStrike" u="none">
                <a:solidFill>
                  <a:schemeClr val="dk1">
                    <a:tint val="75000"/>
                  </a:schemeClr>
                </a:solidFill>
                <a:effectLst/>
                <a:uFillTx/>
                <a:latin typeface="Calibri"/>
              </a:rPr>
              <a:t>&lt;número&gt;</a:t>
            </a:fld>
            <a:endParaRPr b="0" lang="pt-BR"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hyperlink" Target="https://www.sap.com/brazil/insights/what-is-a-data-warehouse.html" TargetMode="External"/><Relationship Id="rId2"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1" lang="pt-BR" sz="4400" strike="noStrike" u="none">
                <a:solidFill>
                  <a:schemeClr val="dk1"/>
                </a:solidFill>
                <a:effectLst/>
                <a:uFillTx/>
                <a:latin typeface="Calibri Light"/>
              </a:rPr>
              <a:t>O que são Dados?</a:t>
            </a:r>
            <a:endParaRPr b="0" lang="pt-BR" sz="4400" strike="noStrike" u="none">
              <a:solidFill>
                <a:schemeClr val="dk1"/>
              </a:solidFill>
              <a:effectLst/>
              <a:uFillTx/>
              <a:latin typeface="Calibri"/>
            </a:endParaRPr>
          </a:p>
        </p:txBody>
      </p:sp>
      <p:sp>
        <p:nvSpPr>
          <p:cNvPr id="63" name="PlaceHolder 2"/>
          <p:cNvSpPr>
            <a:spLocks noGrp="1"/>
          </p:cNvSpPr>
          <p:nvPr>
            <p:ph/>
          </p:nvPr>
        </p:nvSpPr>
        <p:spPr>
          <a:xfrm>
            <a:off x="838080" y="1572480"/>
            <a:ext cx="10515240" cy="3166200"/>
          </a:xfrm>
          <a:prstGeom prst="rect">
            <a:avLst/>
          </a:prstGeom>
          <a:noFill/>
          <a:ln w="0">
            <a:noFill/>
          </a:ln>
        </p:spPr>
        <p:txBody>
          <a:bodyPr lIns="91440" rIns="91440" tIns="45720" bIns="45720" anchor="t">
            <a:normAutofit lnSpcReduction="9999"/>
          </a:bodyPr>
          <a:p>
            <a:pPr indent="0" defTabSz="914400">
              <a:lnSpc>
                <a:spcPct val="150000"/>
              </a:lnSpc>
              <a:spcBef>
                <a:spcPts val="1001"/>
              </a:spcBef>
              <a:buNone/>
              <a:tabLst>
                <a:tab algn="l" pos="0"/>
              </a:tabLst>
            </a:pPr>
            <a:r>
              <a:rPr b="1" lang="pt-BR" sz="2400" strike="noStrike" u="none">
                <a:solidFill>
                  <a:srgbClr val="ff0000"/>
                </a:solidFill>
                <a:effectLst/>
                <a:uFillTx/>
                <a:latin typeface="Source Sans Pro"/>
              </a:rPr>
              <a:t>Dado e Informação</a:t>
            </a:r>
            <a:endParaRPr b="0" lang="pt-BR" sz="2400" strike="noStrike" u="none">
              <a:solidFill>
                <a:schemeClr val="dk1"/>
              </a:solidFill>
              <a:effectLst/>
              <a:uFillTx/>
              <a:latin typeface="Calibri"/>
            </a:endParaRPr>
          </a:p>
          <a:p>
            <a:pPr indent="0" defTabSz="914400">
              <a:lnSpc>
                <a:spcPct val="150000"/>
              </a:lnSpc>
              <a:spcBef>
                <a:spcPts val="1001"/>
              </a:spcBef>
              <a:buNone/>
              <a:tabLst>
                <a:tab algn="l" pos="0"/>
              </a:tabLst>
            </a:pPr>
            <a:endParaRPr b="0" lang="pt-BR" sz="2400" strike="noStrike" u="none">
              <a:solidFill>
                <a:schemeClr val="dk1"/>
              </a:solidFill>
              <a:effectLst/>
              <a:uFillTx/>
              <a:latin typeface="Calibri"/>
            </a:endParaRPr>
          </a:p>
          <a:p>
            <a:pPr indent="0" defTabSz="914400">
              <a:lnSpc>
                <a:spcPct val="150000"/>
              </a:lnSpc>
              <a:spcBef>
                <a:spcPts val="1001"/>
              </a:spcBef>
              <a:buNone/>
              <a:tabLst>
                <a:tab algn="l" pos="0"/>
              </a:tabLst>
            </a:pPr>
            <a:r>
              <a:rPr b="1" lang="pt-BR" sz="2000" strike="noStrike" u="none">
                <a:solidFill>
                  <a:srgbClr val="06142d"/>
                </a:solidFill>
                <a:effectLst/>
                <a:uFillTx/>
                <a:latin typeface="Source Sans Pro"/>
              </a:rPr>
              <a:t>Dado: </a:t>
            </a:r>
            <a:r>
              <a:rPr b="0" lang="pt-BR" sz="2000" strike="noStrike" u="none">
                <a:solidFill>
                  <a:srgbClr val="06142d"/>
                </a:solidFill>
                <a:effectLst/>
                <a:uFillTx/>
                <a:latin typeface="Source Sans Pro"/>
              </a:rPr>
              <a:t>é a representação utilizada para gerar uma </a:t>
            </a:r>
            <a:r>
              <a:rPr b="1" lang="pt-BR" sz="2000" strike="noStrike" u="none">
                <a:solidFill>
                  <a:srgbClr val="06142d"/>
                </a:solidFill>
                <a:effectLst/>
                <a:uFillTx/>
                <a:latin typeface="Source Sans Pro"/>
              </a:rPr>
              <a:t>informação.</a:t>
            </a:r>
            <a:endParaRPr b="0" lang="pt-BR" sz="2000" strike="noStrike" u="none">
              <a:solidFill>
                <a:schemeClr val="dk1"/>
              </a:solidFill>
              <a:effectLst/>
              <a:uFillTx/>
              <a:latin typeface="Calibri"/>
            </a:endParaRPr>
          </a:p>
          <a:p>
            <a:pPr indent="0" defTabSz="914400">
              <a:lnSpc>
                <a:spcPct val="150000"/>
              </a:lnSpc>
              <a:spcBef>
                <a:spcPts val="1001"/>
              </a:spcBef>
              <a:buNone/>
              <a:tabLst>
                <a:tab algn="l" pos="0"/>
              </a:tabLst>
            </a:pPr>
            <a:r>
              <a:rPr b="0" lang="pt-BR" sz="2000" strike="noStrike" u="none">
                <a:solidFill>
                  <a:srgbClr val="06142d"/>
                </a:solidFill>
                <a:effectLst/>
                <a:uFillTx/>
                <a:latin typeface="Source Sans Pro"/>
              </a:rPr>
              <a:t>	</a:t>
            </a:r>
            <a:r>
              <a:rPr b="0" lang="pt-BR" sz="2000" strike="noStrike" u="none">
                <a:solidFill>
                  <a:srgbClr val="06142d"/>
                </a:solidFill>
                <a:effectLst/>
                <a:uFillTx/>
                <a:latin typeface="Source Sans Pro"/>
              </a:rPr>
              <a:t>Os dados sozinhos não correspondem a nenhum significado, não geram nenhuma informação, mas quando analisamos vários dados de forma conjunto, podemos chegar a alguma informação sobre isso.</a:t>
            </a:r>
            <a:endParaRPr b="0" lang="pt-BR" sz="2000" strike="noStrike" u="none">
              <a:solidFill>
                <a:schemeClr val="dk1"/>
              </a:solidFill>
              <a:effectLst/>
              <a:uFillTx/>
              <a:latin typeface="Calibri"/>
            </a:endParaRPr>
          </a:p>
          <a:p>
            <a:pPr indent="0" defTabSz="914400">
              <a:lnSpc>
                <a:spcPct val="150000"/>
              </a:lnSpc>
              <a:spcBef>
                <a:spcPts val="1001"/>
              </a:spcBef>
              <a:buNone/>
              <a:tabLst>
                <a:tab algn="l" pos="0"/>
              </a:tabLst>
            </a:pPr>
            <a:endParaRPr b="0" lang="pt-BR" sz="2000" strike="noStrike" u="none">
              <a:solidFill>
                <a:schemeClr val="dk1"/>
              </a:solidFill>
              <a:effectLst/>
              <a:uFillTx/>
              <a:latin typeface="Calibri"/>
            </a:endParaRPr>
          </a:p>
        </p:txBody>
      </p:sp>
      <p:pic>
        <p:nvPicPr>
          <p:cNvPr id="64" name="Imagem 4" descr=""/>
          <p:cNvPicPr/>
          <p:nvPr/>
        </p:nvPicPr>
        <p:blipFill>
          <a:blip r:embed="rId1"/>
          <a:stretch/>
        </p:blipFill>
        <p:spPr>
          <a:xfrm>
            <a:off x="3102840" y="4739040"/>
            <a:ext cx="5146200" cy="17535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p:nvPr>
        </p:nvSpPr>
        <p:spPr>
          <a:xfrm>
            <a:off x="667440" y="581040"/>
            <a:ext cx="10515240" cy="5236560"/>
          </a:xfrm>
          <a:prstGeom prst="rect">
            <a:avLst/>
          </a:prstGeom>
          <a:noFill/>
          <a:ln w="0">
            <a:noFill/>
          </a:ln>
        </p:spPr>
        <p:txBody>
          <a:bodyPr lIns="91440" rIns="91440" tIns="45720" bIns="45720" anchor="t">
            <a:noAutofit/>
          </a:bodyPr>
          <a:p>
            <a:pPr marL="228600" indent="-228600" algn="just" defTabSz="914400">
              <a:lnSpc>
                <a:spcPct val="90000"/>
              </a:lnSpc>
              <a:spcBef>
                <a:spcPts val="1001"/>
              </a:spcBef>
              <a:buClr>
                <a:srgbClr val="ff0000"/>
              </a:buClr>
              <a:buFont typeface="Arial"/>
              <a:buChar char="•"/>
            </a:pPr>
            <a:r>
              <a:rPr b="1" lang="pt-BR" sz="2000" strike="noStrike" u="none">
                <a:solidFill>
                  <a:srgbClr val="ff0000"/>
                </a:solidFill>
                <a:effectLst/>
                <a:uFillTx/>
                <a:latin typeface="Source Sans Pro"/>
              </a:rPr>
              <a:t>Exemplo: </a:t>
            </a:r>
            <a:endParaRPr b="0" lang="pt-BR" sz="2000" strike="noStrike" u="none">
              <a:solidFill>
                <a:schemeClr val="dk1"/>
              </a:solidFill>
              <a:effectLst/>
              <a:uFillTx/>
              <a:latin typeface="Calibri"/>
            </a:endParaRPr>
          </a:p>
          <a:p>
            <a:pPr indent="0" algn="just" defTabSz="914400">
              <a:lnSpc>
                <a:spcPct val="90000"/>
              </a:lnSpc>
              <a:spcBef>
                <a:spcPts val="1001"/>
              </a:spcBef>
              <a:buNone/>
            </a:pPr>
            <a:endParaRPr b="0" lang="pt-BR" sz="2000" strike="noStrike" u="none">
              <a:solidFill>
                <a:schemeClr val="dk1"/>
              </a:solidFill>
              <a:effectLst/>
              <a:uFillTx/>
              <a:latin typeface="Calibri"/>
            </a:endParaRPr>
          </a:p>
          <a:p>
            <a:pPr indent="0" algn="just" defTabSz="914400">
              <a:lnSpc>
                <a:spcPct val="90000"/>
              </a:lnSpc>
              <a:spcBef>
                <a:spcPts val="1001"/>
              </a:spcBef>
              <a:buNone/>
              <a:tabLst>
                <a:tab algn="l" pos="0"/>
              </a:tabLst>
            </a:pPr>
            <a:r>
              <a:rPr b="0" lang="pt-BR" sz="2000" strike="noStrike" u="none">
                <a:solidFill>
                  <a:srgbClr val="06142d"/>
                </a:solidFill>
                <a:effectLst/>
                <a:uFillTx/>
                <a:latin typeface="Source Sans Pro"/>
              </a:rPr>
              <a:t>	</a:t>
            </a:r>
            <a:r>
              <a:rPr b="0" lang="pt-BR" sz="2000" strike="noStrike" u="none">
                <a:solidFill>
                  <a:srgbClr val="06142d"/>
                </a:solidFill>
                <a:effectLst/>
                <a:uFillTx/>
                <a:latin typeface="Source Sans Pro"/>
              </a:rPr>
              <a:t>Imagine que temos uma tabela para representar os funcionários de uma organização, e nela estão incluídos o nome dos funcionários, seus salários, seus setores de trabalho etc., informação necessárias para caracterizar um funcionário dentro de uma organização.</a:t>
            </a:r>
            <a:endParaRPr b="0" lang="pt-BR" sz="2000" strike="noStrike" u="none">
              <a:solidFill>
                <a:schemeClr val="dk1"/>
              </a:solidFill>
              <a:effectLst/>
              <a:uFillTx/>
              <a:latin typeface="Calibri"/>
            </a:endParaRPr>
          </a:p>
          <a:p>
            <a:pPr indent="0" algn="just" defTabSz="914400">
              <a:lnSpc>
                <a:spcPct val="90000"/>
              </a:lnSpc>
              <a:spcBef>
                <a:spcPts val="1001"/>
              </a:spcBef>
              <a:buNone/>
              <a:tabLst>
                <a:tab algn="l" pos="0"/>
              </a:tabLst>
            </a:pPr>
            <a:r>
              <a:rPr b="0" lang="pt-BR" sz="2000" strike="noStrike" u="none">
                <a:solidFill>
                  <a:srgbClr val="06142d"/>
                </a:solidFill>
                <a:effectLst/>
                <a:uFillTx/>
                <a:latin typeface="Source Sans Pro"/>
              </a:rPr>
              <a:t>	</a:t>
            </a:r>
            <a:r>
              <a:rPr b="0" lang="pt-BR" sz="2000" strike="noStrike" u="none">
                <a:solidFill>
                  <a:srgbClr val="06142d"/>
                </a:solidFill>
                <a:effectLst/>
                <a:uFillTx/>
                <a:latin typeface="Source Sans Pro"/>
              </a:rPr>
              <a:t>Quando olhamos apenas uma coluna dentro dessa tabela, por exemplo a do salário, temos os dados de R$ 3.500,00 ou R$2.000,00, que sozinhos não nos agregam em nada, mas quando observamos toda a linha da tabela, por exemplo, a funcionária Márcia Cristina recebe R$ 2.000,00 e trabalha no setor de Educação, temos informações a respeito do que está armazenado.</a:t>
            </a:r>
            <a:endParaRPr b="0" lang="pt-BR" sz="20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pt-BR" sz="2800" strike="noStrike" u="none">
              <a:solidFill>
                <a:schemeClr val="dk1"/>
              </a:solidFill>
              <a:effectLst/>
              <a:uFillTx/>
              <a:latin typeface="Calibri"/>
            </a:endParaRPr>
          </a:p>
        </p:txBody>
      </p:sp>
      <p:sp>
        <p:nvSpPr>
          <p:cNvPr id="66" name="Balão de Fala: Oval 3"/>
          <p:cNvSpPr/>
          <p:nvPr/>
        </p:nvSpPr>
        <p:spPr>
          <a:xfrm rot="1844400">
            <a:off x="5572440" y="3641040"/>
            <a:ext cx="2719440" cy="2221560"/>
          </a:xfrm>
          <a:prstGeom prst="wedgeEllipseCallout">
            <a:avLst>
              <a:gd name="adj1" fmla="val -20833"/>
              <a:gd name="adj2" fmla="val 62500"/>
            </a:avLst>
          </a:prstGeom>
          <a:solidFill>
            <a:schemeClr val="accent5">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pt-BR" sz="1400" strike="noStrike" u="none">
                <a:solidFill>
                  <a:srgbClr val="06142d"/>
                </a:solidFill>
                <a:effectLst/>
                <a:uFillTx/>
                <a:latin typeface="Source Sans Pro"/>
              </a:rPr>
              <a:t>Leva em conta o seguinte: “</a:t>
            </a:r>
            <a:r>
              <a:rPr b="1" lang="pt-BR" sz="1400" strike="noStrike" u="none">
                <a:solidFill>
                  <a:srgbClr val="06142d"/>
                </a:solidFill>
                <a:effectLst/>
                <a:uFillTx/>
                <a:latin typeface="Source Sans Pro"/>
              </a:rPr>
              <a:t>pessoas trabalham com informações, mas a tecnologia armazena dados</a:t>
            </a:r>
            <a:r>
              <a:rPr b="0" lang="pt-BR" sz="1400" strike="noStrike" u="none">
                <a:solidFill>
                  <a:srgbClr val="06142d"/>
                </a:solidFill>
                <a:effectLst/>
                <a:uFillTx/>
                <a:latin typeface="Source Sans Pro"/>
              </a:rPr>
              <a:t>”.</a:t>
            </a:r>
            <a:endParaRPr b="0" lang="pt-BR" sz="1400" strike="noStrike" u="none">
              <a:solidFill>
                <a:srgbClr val="000000"/>
              </a:solidFill>
              <a:effectLst/>
              <a:uFillTx/>
              <a:latin typeface="Arial"/>
            </a:endParaRPr>
          </a:p>
        </p:txBody>
      </p:sp>
      <p:pic>
        <p:nvPicPr>
          <p:cNvPr id="67" name="Imagem 5" descr=""/>
          <p:cNvPicPr/>
          <p:nvPr/>
        </p:nvPicPr>
        <p:blipFill>
          <a:blip r:embed="rId1"/>
          <a:stretch/>
        </p:blipFill>
        <p:spPr>
          <a:xfrm>
            <a:off x="2856600" y="4908240"/>
            <a:ext cx="2752200" cy="18190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p:nvPr>
        </p:nvSpPr>
        <p:spPr>
          <a:xfrm>
            <a:off x="838080" y="775080"/>
            <a:ext cx="10515240" cy="5401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6142d"/>
              </a:buClr>
              <a:buFont typeface="Arial"/>
              <a:buChar char="•"/>
            </a:pPr>
            <a:r>
              <a:rPr b="0" lang="pt-BR" sz="2800" strike="noStrike" u="none">
                <a:solidFill>
                  <a:srgbClr val="06142d"/>
                </a:solidFill>
                <a:effectLst/>
                <a:uFillTx/>
                <a:latin typeface="Source Sans Pro"/>
              </a:rPr>
              <a:t>Podemos classificar os dados em três estruturas diferentes: </a:t>
            </a:r>
            <a:endParaRPr b="0" lang="pt-BR" sz="2800" strike="noStrike" u="none">
              <a:solidFill>
                <a:schemeClr val="dk1"/>
              </a:solidFill>
              <a:effectLst/>
              <a:uFillTx/>
              <a:latin typeface="Calibri"/>
            </a:endParaRPr>
          </a:p>
          <a:p>
            <a:pPr indent="0" defTabSz="914400">
              <a:lnSpc>
                <a:spcPct val="90000"/>
              </a:lnSpc>
              <a:spcBef>
                <a:spcPts val="1001"/>
              </a:spcBef>
              <a:buNone/>
            </a:pPr>
            <a:endParaRPr b="0" lang="pt-BR" sz="2800" strike="noStrike" u="none">
              <a:solidFill>
                <a:schemeClr val="dk1"/>
              </a:solidFill>
              <a:effectLst/>
              <a:uFillTx/>
              <a:latin typeface="Calibri"/>
            </a:endParaRPr>
          </a:p>
          <a:p>
            <a:pPr marL="228600" indent="-228600" defTabSz="914400">
              <a:lnSpc>
                <a:spcPct val="90000"/>
              </a:lnSpc>
              <a:spcBef>
                <a:spcPts val="1001"/>
              </a:spcBef>
              <a:buClr>
                <a:srgbClr val="06142d"/>
              </a:buClr>
              <a:buFont typeface="Wingdings" charset="2"/>
              <a:buChar char=""/>
            </a:pPr>
            <a:r>
              <a:rPr b="1" lang="pt-BR" sz="2800" strike="noStrike" u="none">
                <a:solidFill>
                  <a:srgbClr val="06142d"/>
                </a:solidFill>
                <a:effectLst/>
                <a:uFillTx/>
                <a:latin typeface="Source Sans Pro"/>
              </a:rPr>
              <a:t>	</a:t>
            </a:r>
            <a:r>
              <a:rPr b="1" lang="pt-BR" sz="2800" strike="noStrike" u="none">
                <a:solidFill>
                  <a:srgbClr val="06142d"/>
                </a:solidFill>
                <a:effectLst/>
                <a:uFillTx/>
                <a:latin typeface="Source Sans Pro"/>
              </a:rPr>
              <a:t>Dados Estruturados</a:t>
            </a:r>
            <a:r>
              <a:rPr b="0" lang="pt-BR" sz="2800" strike="noStrike" u="none">
                <a:solidFill>
                  <a:srgbClr val="06142d"/>
                </a:solidFill>
                <a:effectLst/>
                <a:uFillTx/>
                <a:latin typeface="Source Sans Pro"/>
              </a:rPr>
              <a:t>; </a:t>
            </a:r>
            <a:endParaRPr b="0" lang="pt-BR" sz="2800" strike="noStrike" u="none">
              <a:solidFill>
                <a:schemeClr val="dk1"/>
              </a:solidFill>
              <a:effectLst/>
              <a:uFillTx/>
              <a:latin typeface="Calibri"/>
            </a:endParaRPr>
          </a:p>
          <a:p>
            <a:pPr marL="228600" indent="-228600" defTabSz="914400">
              <a:lnSpc>
                <a:spcPct val="90000"/>
              </a:lnSpc>
              <a:spcBef>
                <a:spcPts val="1001"/>
              </a:spcBef>
              <a:buClr>
                <a:srgbClr val="06142d"/>
              </a:buClr>
              <a:buFont typeface="Wingdings" charset="2"/>
              <a:buChar char=""/>
            </a:pPr>
            <a:r>
              <a:rPr b="1" lang="pt-BR" sz="2800" strike="noStrike" u="none">
                <a:solidFill>
                  <a:srgbClr val="06142d"/>
                </a:solidFill>
                <a:effectLst/>
                <a:uFillTx/>
                <a:latin typeface="Source Sans Pro"/>
              </a:rPr>
              <a:t>	</a:t>
            </a:r>
            <a:r>
              <a:rPr b="1" lang="pt-BR" sz="2800" strike="noStrike" u="none">
                <a:solidFill>
                  <a:srgbClr val="06142d"/>
                </a:solidFill>
                <a:effectLst/>
                <a:uFillTx/>
                <a:latin typeface="Source Sans Pro"/>
              </a:rPr>
              <a:t>Dados Não-Estruturados;</a:t>
            </a:r>
            <a:endParaRPr b="0" lang="pt-BR" sz="2800" strike="noStrike" u="none">
              <a:solidFill>
                <a:schemeClr val="dk1"/>
              </a:solidFill>
              <a:effectLst/>
              <a:uFillTx/>
              <a:latin typeface="Calibri"/>
            </a:endParaRPr>
          </a:p>
          <a:p>
            <a:pPr marL="228600" indent="-228600" defTabSz="914400">
              <a:lnSpc>
                <a:spcPct val="90000"/>
              </a:lnSpc>
              <a:spcBef>
                <a:spcPts val="1001"/>
              </a:spcBef>
              <a:buClr>
                <a:srgbClr val="06142d"/>
              </a:buClr>
              <a:buFont typeface="Wingdings" charset="2"/>
              <a:buChar char=""/>
            </a:pPr>
            <a:r>
              <a:rPr b="1" lang="pt-BR" sz="2800" strike="noStrike" u="none">
                <a:solidFill>
                  <a:srgbClr val="06142d"/>
                </a:solidFill>
                <a:effectLst/>
                <a:uFillTx/>
                <a:latin typeface="Source Sans Pro"/>
              </a:rPr>
              <a:t>	</a:t>
            </a:r>
            <a:r>
              <a:rPr b="1" lang="pt-BR" sz="2800" strike="noStrike" u="none">
                <a:solidFill>
                  <a:srgbClr val="06142d"/>
                </a:solidFill>
                <a:effectLst/>
                <a:uFillTx/>
                <a:latin typeface="Source Sans Pro"/>
              </a:rPr>
              <a:t>Dados Semiestruturados</a:t>
            </a:r>
            <a:r>
              <a:rPr b="0" lang="pt-BR" sz="2800" strike="noStrike" u="none">
                <a:solidFill>
                  <a:srgbClr val="06142d"/>
                </a:solidFill>
                <a:effectLst/>
                <a:uFillTx/>
                <a:latin typeface="Source Sans Pro"/>
              </a:rPr>
              <a:t>.</a:t>
            </a:r>
            <a:endParaRPr b="0" lang="pt-BR" sz="2800" strike="noStrike" u="none">
              <a:solidFill>
                <a:schemeClr val="dk1"/>
              </a:solidFill>
              <a:effectLst/>
              <a:uFillTx/>
              <a:latin typeface="Calibri"/>
            </a:endParaRPr>
          </a:p>
        </p:txBody>
      </p:sp>
      <p:pic>
        <p:nvPicPr>
          <p:cNvPr id="69" name="Imagem 4" descr=""/>
          <p:cNvPicPr/>
          <p:nvPr/>
        </p:nvPicPr>
        <p:blipFill>
          <a:blip r:embed="rId1"/>
          <a:stretch/>
        </p:blipFill>
        <p:spPr>
          <a:xfrm>
            <a:off x="3511800" y="3564360"/>
            <a:ext cx="4598280" cy="25178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p:nvPr>
        </p:nvSpPr>
        <p:spPr>
          <a:xfrm>
            <a:off x="838080" y="1090080"/>
            <a:ext cx="10515240" cy="56383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ff0000"/>
              </a:buClr>
              <a:buFont typeface="Arial"/>
              <a:buChar char="•"/>
            </a:pPr>
            <a:r>
              <a:rPr b="1" lang="pt-BR" sz="2800" strike="noStrike" u="none">
                <a:solidFill>
                  <a:srgbClr val="ff0000"/>
                </a:solidFill>
                <a:effectLst/>
                <a:uFillTx/>
                <a:latin typeface="Source Sans Pro"/>
              </a:rPr>
              <a:t>Dados Estruturados</a:t>
            </a:r>
            <a:endParaRPr b="0" lang="pt-BR" sz="2800" strike="noStrike" u="none">
              <a:solidFill>
                <a:schemeClr val="dk1"/>
              </a:solidFill>
              <a:effectLst/>
              <a:uFillTx/>
              <a:latin typeface="Calibri"/>
            </a:endParaRPr>
          </a:p>
          <a:p>
            <a:pPr indent="0" defTabSz="914400">
              <a:lnSpc>
                <a:spcPct val="90000"/>
              </a:lnSpc>
              <a:spcBef>
                <a:spcPts val="1001"/>
              </a:spcBef>
              <a:buNone/>
            </a:pPr>
            <a:endParaRPr b="0" lang="pt-BR" sz="2800" strike="noStrike" u="none">
              <a:solidFill>
                <a:schemeClr val="dk1"/>
              </a:solidFill>
              <a:effectLst/>
              <a:uFillTx/>
              <a:latin typeface="Calibri"/>
            </a:endParaRPr>
          </a:p>
          <a:p>
            <a:pPr indent="0" algn="just" defTabSz="914400">
              <a:lnSpc>
                <a:spcPct val="90000"/>
              </a:lnSpc>
              <a:spcBef>
                <a:spcPts val="1001"/>
              </a:spcBef>
              <a:buNone/>
              <a:tabLst>
                <a:tab algn="l" pos="0"/>
              </a:tabLst>
            </a:pPr>
            <a:r>
              <a:rPr b="0" lang="pt-BR" sz="2800" strike="noStrike" u="none">
                <a:solidFill>
                  <a:srgbClr val="06142d"/>
                </a:solidFill>
                <a:effectLst/>
                <a:uFillTx/>
                <a:latin typeface="Source Sans Pro"/>
              </a:rPr>
              <a:t>	</a:t>
            </a:r>
            <a:r>
              <a:rPr b="0" lang="pt-BR" sz="2000" strike="noStrike" u="none">
                <a:solidFill>
                  <a:srgbClr val="06142d"/>
                </a:solidFill>
                <a:effectLst/>
                <a:uFillTx/>
                <a:latin typeface="Source Sans Pro"/>
              </a:rPr>
              <a:t>Os </a:t>
            </a:r>
            <a:r>
              <a:rPr b="1" lang="pt-BR" sz="2000" strike="noStrike" u="none">
                <a:solidFill>
                  <a:srgbClr val="06142d"/>
                </a:solidFill>
                <a:effectLst/>
                <a:uFillTx/>
                <a:latin typeface="Source Sans Pro"/>
              </a:rPr>
              <a:t>dados estruturados</a:t>
            </a:r>
            <a:r>
              <a:rPr b="0" lang="pt-BR" sz="2000" strike="noStrike" u="none">
                <a:solidFill>
                  <a:srgbClr val="06142d"/>
                </a:solidFill>
                <a:effectLst/>
                <a:uFillTx/>
                <a:latin typeface="Source Sans Pro"/>
              </a:rPr>
              <a:t> são aqueles organizados e representados com uma estrutura rígida, a qual foi previamente planejada para armazená-los, por exemplo um banco de dados, é a representação mais típica e comum de dados estruturados.</a:t>
            </a:r>
            <a:endParaRPr b="0" lang="pt-BR" sz="20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pt-BR" sz="2800" strike="noStrike" u="none">
              <a:solidFill>
                <a:schemeClr val="dk1"/>
              </a:solidFill>
              <a:effectLst/>
              <a:uFillTx/>
              <a:latin typeface="Calibri"/>
            </a:endParaRPr>
          </a:p>
          <a:p>
            <a:pPr indent="0" algn="just" defTabSz="914400">
              <a:lnSpc>
                <a:spcPct val="90000"/>
              </a:lnSpc>
              <a:spcBef>
                <a:spcPts val="1001"/>
              </a:spcBef>
              <a:buNone/>
              <a:tabLst>
                <a:tab algn="l" pos="0"/>
              </a:tabLst>
            </a:pPr>
            <a:r>
              <a:rPr b="1" lang="pt-BR" sz="2800" strike="noStrike" u="none">
                <a:solidFill>
                  <a:srgbClr val="06142d"/>
                </a:solidFill>
                <a:effectLst/>
                <a:uFillTx/>
                <a:latin typeface="Source Sans Pro"/>
              </a:rPr>
              <a:t>	</a:t>
            </a:r>
            <a:r>
              <a:rPr b="1" lang="pt-BR" sz="2000" strike="noStrike" u="none">
                <a:solidFill>
                  <a:srgbClr val="06142d"/>
                </a:solidFill>
                <a:effectLst/>
                <a:uFillTx/>
                <a:latin typeface="Source Sans Pro"/>
              </a:rPr>
              <a:t>Em um banco de dados</a:t>
            </a:r>
            <a:r>
              <a:rPr b="0" lang="pt-BR" sz="2000" strike="noStrike" u="none">
                <a:solidFill>
                  <a:srgbClr val="06142d"/>
                </a:solidFill>
                <a:effectLst/>
                <a:uFillTx/>
                <a:latin typeface="Source Sans Pro"/>
              </a:rPr>
              <a:t>, os dados são estruturados conforme a definição de um esquema (modelagem), que define como as tabelas e suas respectivas linhas e colunas serão armazenadas. </a:t>
            </a:r>
            <a:endParaRPr b="0" lang="pt-BR" sz="20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pt-BR"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p:nvPr>
        </p:nvSpPr>
        <p:spPr>
          <a:xfrm>
            <a:off x="2869200" y="1945440"/>
            <a:ext cx="7629480" cy="1851480"/>
          </a:xfrm>
          <a:prstGeom prst="rect">
            <a:avLst/>
          </a:prstGeom>
          <a:noFill/>
          <a:ln w="0">
            <a:noFill/>
          </a:ln>
        </p:spPr>
        <p:txBody>
          <a:bodyPr lIns="91440" rIns="91440" tIns="45720" bIns="45720" anchor="t">
            <a:normAutofit fontScale="92500" lnSpcReduction="9999"/>
          </a:bodyPr>
          <a:p>
            <a:pPr marL="228600" indent="-228600" defTabSz="914400">
              <a:lnSpc>
                <a:spcPct val="150000"/>
              </a:lnSpc>
              <a:spcBef>
                <a:spcPts val="1001"/>
              </a:spcBef>
              <a:buClr>
                <a:srgbClr val="06142d"/>
              </a:buClr>
              <a:buFont typeface="Arial"/>
              <a:buChar char="•"/>
            </a:pPr>
            <a:r>
              <a:rPr b="0" lang="pt-BR" sz="2000" strike="noStrike" u="none">
                <a:solidFill>
                  <a:srgbClr val="06142d"/>
                </a:solidFill>
                <a:effectLst/>
                <a:uFillTx/>
                <a:latin typeface="Source Sans Pro"/>
              </a:rPr>
              <a:t>Aqui temos a representação de uma tabela dentro de um banco de dados, você pode observar que temos uma estrutura bem definida e que sua alteração não é tão simples, por isso dizemos que </a:t>
            </a:r>
            <a:r>
              <a:rPr b="1" lang="pt-BR" sz="2000" strike="noStrike" u="none">
                <a:solidFill>
                  <a:srgbClr val="ff0000"/>
                </a:solidFill>
                <a:effectLst/>
                <a:uFillTx/>
                <a:latin typeface="Source Sans Pro"/>
              </a:rPr>
              <a:t>os dados estruturados são rígidos e não-flexíveis.</a:t>
            </a:r>
            <a:endParaRPr b="0" lang="pt-BR" sz="2000" strike="noStrike" u="none">
              <a:solidFill>
                <a:schemeClr val="dk1"/>
              </a:solidFill>
              <a:effectLst/>
              <a:uFillTx/>
              <a:latin typeface="Calibri"/>
            </a:endParaRPr>
          </a:p>
          <a:p>
            <a:pPr indent="0" defTabSz="914400">
              <a:lnSpc>
                <a:spcPct val="90000"/>
              </a:lnSpc>
              <a:spcBef>
                <a:spcPts val="1001"/>
              </a:spcBef>
              <a:buNone/>
            </a:pPr>
            <a:endParaRPr b="0" lang="pt-BR" sz="20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pt-BR" sz="2000" strike="noStrike" u="none">
              <a:solidFill>
                <a:schemeClr val="dk1"/>
              </a:solidFill>
              <a:effectLst/>
              <a:uFillTx/>
              <a:latin typeface="Calibri"/>
            </a:endParaRPr>
          </a:p>
        </p:txBody>
      </p:sp>
      <p:pic>
        <p:nvPicPr>
          <p:cNvPr id="72" name="Imagem 4" descr=""/>
          <p:cNvPicPr/>
          <p:nvPr/>
        </p:nvPicPr>
        <p:blipFill>
          <a:blip r:embed="rId1"/>
          <a:stretch/>
        </p:blipFill>
        <p:spPr>
          <a:xfrm>
            <a:off x="3953520" y="4400640"/>
            <a:ext cx="5079960" cy="1851480"/>
          </a:xfrm>
          <a:prstGeom prst="rect">
            <a:avLst/>
          </a:prstGeom>
          <a:noFill/>
          <a:ln w="0">
            <a:noFill/>
          </a:ln>
        </p:spPr>
      </p:pic>
      <p:sp>
        <p:nvSpPr>
          <p:cNvPr id="73" name="CaixaDeTexto 5"/>
          <p:cNvSpPr/>
          <p:nvPr/>
        </p:nvSpPr>
        <p:spPr>
          <a:xfrm>
            <a:off x="4671360" y="567360"/>
            <a:ext cx="416412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3200" strike="noStrike" u="none">
                <a:solidFill>
                  <a:schemeClr val="dk1"/>
                </a:solidFill>
                <a:effectLst/>
                <a:uFillTx/>
                <a:latin typeface="Calibri"/>
              </a:rPr>
              <a:t>Dados estruturados</a:t>
            </a:r>
            <a:endParaRPr b="0" lang="pt-BR" sz="3200" strike="noStrike" u="none">
              <a:solidFill>
                <a:srgbClr val="000000"/>
              </a:solidFill>
              <a:effectLst/>
              <a:uFillTx/>
              <a:latin typeface="Arial"/>
            </a:endParaRPr>
          </a:p>
        </p:txBody>
      </p:sp>
      <p:sp>
        <p:nvSpPr>
          <p:cNvPr id="74" name="CaixaDeTexto 7"/>
          <p:cNvSpPr/>
          <p:nvPr/>
        </p:nvSpPr>
        <p:spPr>
          <a:xfrm>
            <a:off x="1622520" y="1152360"/>
            <a:ext cx="6097320" cy="3996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lang="pt-BR" sz="2000" strike="noStrike" u="none">
                <a:solidFill>
                  <a:srgbClr val="ff0000"/>
                </a:solidFill>
                <a:effectLst/>
                <a:uFillTx/>
                <a:latin typeface="Source Sans Pro"/>
              </a:rPr>
              <a:t>Exemplo: </a:t>
            </a:r>
            <a:endParaRPr b="0" lang="pt-BR"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CaixaDeTexto 4"/>
          <p:cNvSpPr/>
          <p:nvPr/>
        </p:nvSpPr>
        <p:spPr>
          <a:xfrm>
            <a:off x="3424680" y="862200"/>
            <a:ext cx="609696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trike="noStrike" u="none" cap="all">
                <a:solidFill>
                  <a:srgbClr val="242a85"/>
                </a:solidFill>
                <a:effectLst/>
                <a:uFillTx/>
                <a:latin typeface="Open Sans"/>
              </a:rPr>
              <a:t>A HISTÓRIA DOS BANCOS DE DADOS</a:t>
            </a:r>
            <a:endParaRPr b="0" lang="pt-BR" sz="1800" strike="noStrike" u="none">
              <a:solidFill>
                <a:srgbClr val="000000"/>
              </a:solidFill>
              <a:effectLst/>
              <a:uFillTx/>
              <a:latin typeface="Arial"/>
            </a:endParaRPr>
          </a:p>
        </p:txBody>
      </p:sp>
      <p:sp>
        <p:nvSpPr>
          <p:cNvPr id="76" name="CaixaDeTexto 6"/>
          <p:cNvSpPr/>
          <p:nvPr/>
        </p:nvSpPr>
        <p:spPr>
          <a:xfrm>
            <a:off x="2315880" y="1811880"/>
            <a:ext cx="8118000" cy="2588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353535"/>
                </a:solidFill>
                <a:effectLst/>
                <a:uFillTx/>
                <a:latin typeface="Open Sans"/>
              </a:rPr>
              <a:t>Antigamente as empresas armazenavam dados em fichas de papel que eram organizadas em arquivos físicos através de pastas. Extrair informações e manter esses arquivos organizado era uma tarefa muito custosa. Além disso o acesso à informação dependia da </a:t>
            </a:r>
            <a:r>
              <a:rPr b="0" lang="pt-BR" sz="2000" strike="noStrike" u="none">
                <a:solidFill>
                  <a:srgbClr val="353535"/>
                </a:solidFill>
                <a:effectLst/>
                <a:uFillTx/>
                <a:latin typeface="Open Sans"/>
              </a:rPr>
              <a:t>localização</a:t>
            </a:r>
            <a:r>
              <a:rPr b="0" lang="pt-BR" sz="1800" strike="noStrike" u="none">
                <a:solidFill>
                  <a:srgbClr val="353535"/>
                </a:solidFill>
                <a:effectLst/>
                <a:uFillTx/>
                <a:latin typeface="Open Sans"/>
              </a:rPr>
              <a:t> geográfica dos arquivos. Enfim esses arquivos físicos evoluíram para arquivos digitais.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CaixaDeTexto 2"/>
          <p:cNvSpPr/>
          <p:nvPr/>
        </p:nvSpPr>
        <p:spPr>
          <a:xfrm>
            <a:off x="2211120" y="991440"/>
            <a:ext cx="7231680" cy="33728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353535"/>
                </a:solidFill>
                <a:effectLst/>
                <a:uFillTx/>
                <a:latin typeface="Open Sans"/>
              </a:rPr>
              <a:t>No início, cada entidade (clientes, funcionários, produtos, etc) era um arquivo de dados que eram acompanhados de um "software simples" para manipular os dados do arquivo, esses softwares permitiam realizar operações de cadastro, alteração, exclusão e consulta nos arquivos digitais. De fato melhorou bastante, principalmente a tarefa de consulta de informações, porém os arquivos digitais eram ainda uma versão melhorada dos arquivos físicos.</a:t>
            </a:r>
            <a:endParaRPr b="0" lang="pt-BR" sz="1800" strike="noStrike" u="none">
              <a:solidFill>
                <a:srgbClr val="000000"/>
              </a:solidFill>
              <a:effectLst/>
              <a:uFillTx/>
              <a:latin typeface="Arial"/>
            </a:endParaRPr>
          </a:p>
        </p:txBody>
      </p:sp>
      <p:pic>
        <p:nvPicPr>
          <p:cNvPr id="78" name="Imagem 4" descr=""/>
          <p:cNvPicPr/>
          <p:nvPr/>
        </p:nvPicPr>
        <p:blipFill>
          <a:blip r:embed="rId1"/>
          <a:stretch/>
        </p:blipFill>
        <p:spPr>
          <a:xfrm>
            <a:off x="6268320" y="4160520"/>
            <a:ext cx="4209840" cy="16380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CaixaDeTexto 2"/>
          <p:cNvSpPr/>
          <p:nvPr/>
        </p:nvSpPr>
        <p:spPr>
          <a:xfrm>
            <a:off x="2743200" y="658080"/>
            <a:ext cx="6853320" cy="25416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353535"/>
                </a:solidFill>
                <a:effectLst/>
                <a:uFillTx/>
                <a:latin typeface="Open Sans"/>
              </a:rPr>
              <a:t>Mas as entidades precisavam relacionar-se, por exemplo um </a:t>
            </a:r>
            <a:r>
              <a:rPr b="0" lang="pt-BR" sz="1800" strike="noStrike" u="sng">
                <a:solidFill>
                  <a:srgbClr val="353535"/>
                </a:solidFill>
                <a:effectLst/>
                <a:uFillTx/>
                <a:latin typeface="Open Sans"/>
              </a:rPr>
              <a:t>produto</a:t>
            </a:r>
            <a:r>
              <a:rPr b="0" lang="pt-BR" sz="1800" strike="noStrike" u="none">
                <a:solidFill>
                  <a:srgbClr val="353535"/>
                </a:solidFill>
                <a:effectLst/>
                <a:uFillTx/>
                <a:latin typeface="Open Sans"/>
              </a:rPr>
              <a:t> é fornecido por um </a:t>
            </a:r>
            <a:r>
              <a:rPr b="0" lang="pt-BR" sz="1800" strike="noStrike" u="sng">
                <a:solidFill>
                  <a:srgbClr val="353535"/>
                </a:solidFill>
                <a:effectLst/>
                <a:uFillTx/>
                <a:latin typeface="Open Sans"/>
              </a:rPr>
              <a:t>fornecedor</a:t>
            </a:r>
            <a:r>
              <a:rPr b="0" lang="pt-BR" sz="1800" strike="noStrike" u="none">
                <a:solidFill>
                  <a:srgbClr val="353535"/>
                </a:solidFill>
                <a:effectLst/>
                <a:uFillTx/>
                <a:latin typeface="Open Sans"/>
              </a:rPr>
              <a:t>, e com os arquivos digitais, relacioná-las não era uma tarefa muito trivial, os "softwares simples" para manipular os arquivos digitais começaram a ficar "complexos" para permitir os relacionamentos entre entidades.</a:t>
            </a:r>
            <a:endParaRPr b="0" lang="pt-BR" sz="1800" strike="noStrike" u="none">
              <a:solidFill>
                <a:srgbClr val="000000"/>
              </a:solidFill>
              <a:effectLst/>
              <a:uFillTx/>
              <a:latin typeface="Arial"/>
            </a:endParaRPr>
          </a:p>
        </p:txBody>
      </p:sp>
      <p:sp>
        <p:nvSpPr>
          <p:cNvPr id="80" name="CaixaDeTexto 4"/>
          <p:cNvSpPr/>
          <p:nvPr/>
        </p:nvSpPr>
        <p:spPr>
          <a:xfrm>
            <a:off x="2743200" y="3200040"/>
            <a:ext cx="6853320" cy="21250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353535"/>
                </a:solidFill>
                <a:effectLst/>
                <a:uFillTx/>
                <a:latin typeface="Open Sans"/>
              </a:rPr>
              <a:t>Então, na década de 60 a empresa IBM investiu fortemente em pesquisas para solucionar estes problemas dos bancos de dados digitais primitivos. Vários modelos de bancos de dados surgiram nesta época, dentre eles os modelos hierárquico e rede.</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CaixaDeTexto 2"/>
          <p:cNvSpPr/>
          <p:nvPr/>
        </p:nvSpPr>
        <p:spPr>
          <a:xfrm>
            <a:off x="2561760" y="873720"/>
            <a:ext cx="7496280" cy="42044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353535"/>
                </a:solidFill>
                <a:effectLst/>
                <a:uFillTx/>
                <a:latin typeface="Open Sans"/>
              </a:rPr>
              <a:t>Em junho de 1970, o pesquisador </a:t>
            </a:r>
            <a:r>
              <a:rPr b="1" lang="pt-BR" sz="1800" strike="noStrike" u="none">
                <a:solidFill>
                  <a:srgbClr val="353535"/>
                </a:solidFill>
                <a:effectLst/>
                <a:uFillTx/>
                <a:latin typeface="inherit"/>
              </a:rPr>
              <a:t>Edgar Frank "Ted" Codd</a:t>
            </a:r>
            <a:r>
              <a:rPr b="0" lang="pt-BR" sz="1800" strike="noStrike" u="none">
                <a:solidFill>
                  <a:srgbClr val="353535"/>
                </a:solidFill>
                <a:effectLst/>
                <a:uFillTx/>
                <a:latin typeface="Open Sans"/>
              </a:rPr>
              <a:t> da IBM, mudou a história dos bancos de dados apresentando o</a:t>
            </a:r>
            <a:endParaRPr b="0" lang="pt-BR" sz="1800" strike="noStrike" u="none">
              <a:solidFill>
                <a:srgbClr val="000000"/>
              </a:solidFill>
              <a:effectLst/>
              <a:uFillTx/>
              <a:latin typeface="Arial"/>
            </a:endParaRPr>
          </a:p>
          <a:p>
            <a:pPr algn="just" defTabSz="914400">
              <a:lnSpc>
                <a:spcPct val="150000"/>
              </a:lnSpc>
            </a:pPr>
            <a:r>
              <a:rPr b="0" lang="pt-BR" sz="1800" strike="noStrike" u="sng">
                <a:solidFill>
                  <a:srgbClr val="353535"/>
                </a:solidFill>
                <a:effectLst/>
                <a:uFillTx/>
                <a:latin typeface="Open Sans"/>
              </a:rPr>
              <a:t>modelo relacional</a:t>
            </a:r>
            <a:r>
              <a:rPr b="0" lang="pt-BR" sz="1800" strike="noStrike" u="none">
                <a:solidFill>
                  <a:srgbClr val="353535"/>
                </a:solidFill>
                <a:effectLst/>
                <a:uFillTx/>
                <a:latin typeface="Open Sans"/>
              </a:rPr>
              <a:t> no artigo intitulado </a:t>
            </a:r>
            <a:r>
              <a:rPr b="1" lang="pt-BR" sz="1800" strike="noStrike" u="none">
                <a:solidFill>
                  <a:srgbClr val="353535"/>
                </a:solidFill>
                <a:effectLst/>
                <a:uFillTx/>
                <a:latin typeface="Open Sans"/>
              </a:rPr>
              <a:t>"A Relational Model of Data for Large Shared Data Banks"</a:t>
            </a:r>
            <a:r>
              <a:rPr b="0" lang="pt-BR" sz="1800" strike="noStrike" u="none">
                <a:solidFill>
                  <a:srgbClr val="353535"/>
                </a:solidFill>
                <a:effectLst/>
                <a:uFillTx/>
                <a:latin typeface="Open Sans"/>
              </a:rPr>
              <a:t>, onde o autor apresentou uma forma de usuários sem conhecimento técnico armazenarem e extraírem grandes quantidades de informações de um banco de dados. Este artigo foi o grande impulso para a evolução dos bancos de dados, a partir do artigo de "Ted" Codd que os cientistas aprofundaram a ideia de criar o modelo de banco de dados relacional.</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CaixaDeTexto 2"/>
          <p:cNvSpPr/>
          <p:nvPr/>
        </p:nvSpPr>
        <p:spPr>
          <a:xfrm>
            <a:off x="2194200" y="427320"/>
            <a:ext cx="8000640" cy="600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trike="noStrike" u="none" cap="all">
                <a:solidFill>
                  <a:srgbClr val="242a85"/>
                </a:solidFill>
                <a:effectLst/>
                <a:uFillTx/>
                <a:latin typeface="Open Sans"/>
              </a:rPr>
              <a:t>BANCO DE DADOS RELACIONAL</a:t>
            </a:r>
            <a:endParaRPr b="0" lang="pt-BR" sz="1800" strike="noStrike" u="none">
              <a:solidFill>
                <a:srgbClr val="000000"/>
              </a:solidFill>
              <a:effectLst/>
              <a:uFillTx/>
              <a:latin typeface="Arial"/>
            </a:endParaRPr>
          </a:p>
          <a:p>
            <a:pPr defTabSz="914400">
              <a:lnSpc>
                <a:spcPct val="10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353535"/>
                </a:solidFill>
                <a:effectLst/>
                <a:uFillTx/>
                <a:latin typeface="Open Sans"/>
              </a:rPr>
              <a:t>Apesar de ter sido o marco dos bancos de dados relacionais, o artigo de Codd não foi muito explorado no início. Só no final da década de 70 que foi desenvolvido um sistema baseado nas ideias do cientista, o "Sistema R". Junto com esse sistema foi criado a linguagem de consulta estruturada (SQL - Structured Query Language) que se tornou a linguagem padrão para bancos de dados relacionais.</a:t>
            </a: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353535"/>
                </a:solidFill>
                <a:effectLst/>
                <a:uFillTx/>
                <a:latin typeface="Open Sans"/>
              </a:rPr>
              <a:t>Embora tenha contribuído para a evolução dos bancos de dados relacionais, o "System R" não foi muito bem sucedido comercialmente, mas os sistemas de banco de dados seguintes foram baseados nele.</a:t>
            </a: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353535"/>
                </a:solidFill>
                <a:effectLst/>
                <a:uFillTx/>
                <a:latin typeface="Open Sans"/>
              </a:rPr>
              <a:t>Nos anos 80 surgiram outros bancos de dados, a Oracle apresentou o Oracle 2 e a IBM o SQL/DS (que se tornou DB2), ambos sistemas comerciais de bancos de dados. Na sequencia vieram SQL Server, MySQL, DBase III, Paradox, etc...</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CaixaDeTexto 2"/>
          <p:cNvSpPr/>
          <p:nvPr/>
        </p:nvSpPr>
        <p:spPr>
          <a:xfrm>
            <a:off x="1809720" y="647640"/>
            <a:ext cx="7778520" cy="5587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trike="noStrike" u="none" cap="all">
                <a:solidFill>
                  <a:srgbClr val="242a85"/>
                </a:solidFill>
                <a:effectLst/>
                <a:uFillTx/>
                <a:latin typeface="Open Sans"/>
              </a:rPr>
              <a:t>BANCOS DE DADOS HOJE</a:t>
            </a:r>
            <a:endParaRPr b="0" lang="pt-BR" sz="1800" strike="noStrike" u="none">
              <a:solidFill>
                <a:srgbClr val="000000"/>
              </a:solidFill>
              <a:effectLst/>
              <a:uFillTx/>
              <a:latin typeface="Arial"/>
            </a:endParaRPr>
          </a:p>
          <a:p>
            <a:pPr defTabSz="914400">
              <a:lnSpc>
                <a:spcPct val="10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353535"/>
                </a:solidFill>
                <a:effectLst/>
                <a:uFillTx/>
                <a:latin typeface="Open Sans"/>
              </a:rPr>
              <a:t>Atualmente existem vários modelos de bancos de dados tais como orientado a objetos, orientado a documentos, etc. Mas o mais comum ainda é o banco de dados relacional. A decisão entre qual modelo de banco de dados utilizar baseia-se no tipo de dados que você pretende armazenar.</a:t>
            </a: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353535"/>
                </a:solidFill>
                <a:effectLst/>
                <a:uFillTx/>
                <a:latin typeface="Open Sans"/>
              </a:rPr>
              <a:t>Por exemplo, se você for armazenar uma grande quantidade de dados em um modelo pequeno (imagine um banco de dados pro twitter), é mais indicado utilizar um banco de dados orientado a documentos a um banco de dados relacional. Muitas questões envolvem essa decisão, mas não é uma questão de superioridade entre uma ou outra tecnologia, todas tem prós e contras e são mais indicadas ou não para cada problema.</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CaixaDeTexto 2"/>
          <p:cNvSpPr/>
          <p:nvPr/>
        </p:nvSpPr>
        <p:spPr>
          <a:xfrm>
            <a:off x="2741040" y="792360"/>
            <a:ext cx="6096960" cy="440640"/>
          </a:xfrm>
          <a:prstGeom prst="rect">
            <a:avLst/>
          </a:prstGeom>
          <a:noFill/>
          <a:ln w="0">
            <a:noFill/>
          </a:ln>
        </p:spPr>
        <p:style>
          <a:lnRef idx="0"/>
          <a:fillRef idx="0"/>
          <a:effectRef idx="0"/>
          <a:fontRef idx="minor"/>
        </p:style>
        <p:txBody>
          <a:bodyPr lIns="90000" rIns="90000" tIns="45000" bIns="45000" anchor="t">
            <a:spAutoFit/>
          </a:bodyPr>
          <a:p>
            <a:pPr defTabSz="914400">
              <a:lnSpc>
                <a:spcPts val="2999"/>
              </a:lnSpc>
              <a:spcBef>
                <a:spcPts val="2251"/>
              </a:spcBef>
              <a:spcAft>
                <a:spcPts val="2251"/>
              </a:spcAft>
            </a:pPr>
            <a:r>
              <a:rPr b="1" lang="pt-BR" sz="1800" strike="noStrike" u="none">
                <a:solidFill>
                  <a:srgbClr val="253a44"/>
                </a:solidFill>
                <a:effectLst/>
                <a:uFillTx/>
                <a:latin typeface="Montserrat"/>
                <a:ea typeface="Times New Roman"/>
              </a:rPr>
              <a:t>O que é modelagem de dados?</a:t>
            </a:r>
            <a:endParaRPr b="0" lang="pt-BR" sz="1800" strike="noStrike" u="none">
              <a:solidFill>
                <a:srgbClr val="000000"/>
              </a:solidFill>
              <a:effectLst/>
              <a:uFillTx/>
              <a:latin typeface="Arial"/>
            </a:endParaRPr>
          </a:p>
        </p:txBody>
      </p:sp>
      <p:sp>
        <p:nvSpPr>
          <p:cNvPr id="85" name="CaixaDeTexto 4"/>
          <p:cNvSpPr/>
          <p:nvPr/>
        </p:nvSpPr>
        <p:spPr>
          <a:xfrm>
            <a:off x="1809720" y="1655280"/>
            <a:ext cx="780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pt-BR" sz="1800" strike="noStrike" u="none">
                <a:solidFill>
                  <a:srgbClr val="253a44"/>
                </a:solidFill>
                <a:effectLst/>
                <a:uFillTx/>
                <a:latin typeface="Source Serif Pro"/>
                <a:ea typeface="Times New Roman"/>
              </a:rPr>
              <a:t>Modelagem de dados é o ato de explorar estruturas orientadas a dados</a:t>
            </a:r>
            <a:endParaRPr b="0" lang="pt-BR" sz="1800" strike="noStrike" u="none">
              <a:solidFill>
                <a:srgbClr val="000000"/>
              </a:solidFill>
              <a:effectLst/>
              <a:uFillTx/>
              <a:latin typeface="Arial"/>
            </a:endParaRPr>
          </a:p>
        </p:txBody>
      </p:sp>
      <p:sp>
        <p:nvSpPr>
          <p:cNvPr id="86" name="CaixaDeTexto 6"/>
          <p:cNvSpPr/>
          <p:nvPr/>
        </p:nvSpPr>
        <p:spPr>
          <a:xfrm>
            <a:off x="1732680" y="2191680"/>
            <a:ext cx="771876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trike="noStrike" u="none">
                <a:solidFill>
                  <a:srgbClr val="253a44"/>
                </a:solidFill>
                <a:effectLst/>
                <a:uFillTx/>
                <a:latin typeface="Source Serif Pro"/>
                <a:ea typeface="Calibri"/>
              </a:rPr>
              <a:t>A modelagem de dados é uma etapa importante e essencial em qualquer projeto de desenvolvimento ou manutenção de software</a:t>
            </a:r>
            <a:endParaRPr b="0" lang="pt-BR" sz="1800" strike="noStrike" u="none">
              <a:solidFill>
                <a:srgbClr val="000000"/>
              </a:solidFill>
              <a:effectLst/>
              <a:uFillTx/>
              <a:latin typeface="Arial"/>
            </a:endParaRPr>
          </a:p>
        </p:txBody>
      </p:sp>
      <p:sp>
        <p:nvSpPr>
          <p:cNvPr id="87" name="CaixaDeTexto 8"/>
          <p:cNvSpPr/>
          <p:nvPr/>
        </p:nvSpPr>
        <p:spPr>
          <a:xfrm>
            <a:off x="1903680" y="3005280"/>
            <a:ext cx="6096960" cy="63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pt-BR" sz="1800" strike="noStrike" u="none">
              <a:solidFill>
                <a:srgbClr val="000000"/>
              </a:solidFill>
              <a:effectLst/>
              <a:uFillTx/>
              <a:latin typeface="Arial"/>
            </a:endParaRPr>
          </a:p>
          <a:p>
            <a:pPr defTabSz="914400">
              <a:lnSpc>
                <a:spcPct val="100000"/>
              </a:lnSpc>
            </a:pPr>
            <a:r>
              <a:rPr b="0" lang="pt-BR" sz="1800" strike="noStrike" u="none">
                <a:solidFill>
                  <a:srgbClr val="253a44"/>
                </a:solidFill>
                <a:effectLst/>
                <a:uFillTx/>
                <a:latin typeface="Source Serif Pro"/>
                <a:ea typeface="Times New Roman"/>
              </a:rPr>
              <a:t>Com a modelagem de dados identificamos tipos de entidades :</a:t>
            </a:r>
            <a:endParaRPr b="0" lang="pt-BR" sz="1800" strike="noStrike" u="none">
              <a:solidFill>
                <a:srgbClr val="000000"/>
              </a:solidFill>
              <a:effectLst/>
              <a:uFillTx/>
              <a:latin typeface="Arial"/>
            </a:endParaRPr>
          </a:p>
        </p:txBody>
      </p:sp>
      <p:sp>
        <p:nvSpPr>
          <p:cNvPr id="88" name="CaixaDeTexto 10"/>
          <p:cNvSpPr/>
          <p:nvPr/>
        </p:nvSpPr>
        <p:spPr>
          <a:xfrm>
            <a:off x="1903680" y="3835080"/>
            <a:ext cx="609696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pt-BR" sz="1800" strike="noStrike" u="none">
                <a:solidFill>
                  <a:srgbClr val="253a44"/>
                </a:solidFill>
                <a:effectLst/>
                <a:uFillTx/>
                <a:latin typeface="Source Serif Pro"/>
                <a:ea typeface="Times New Roman"/>
              </a:rPr>
              <a:t>Atributos de dados são associados a tipos de entidades </a:t>
            </a:r>
            <a:endParaRPr b="0" lang="pt-BR" sz="1800" strike="noStrike" u="none">
              <a:solidFill>
                <a:srgbClr val="000000"/>
              </a:solidFill>
              <a:effectLst/>
              <a:uFillTx/>
              <a:latin typeface="Arial"/>
            </a:endParaRPr>
          </a:p>
        </p:txBody>
      </p:sp>
      <p:sp>
        <p:nvSpPr>
          <p:cNvPr id="89" name="CaixaDeTexto 12"/>
          <p:cNvSpPr/>
          <p:nvPr/>
        </p:nvSpPr>
        <p:spPr>
          <a:xfrm>
            <a:off x="1903680" y="4388040"/>
            <a:ext cx="6096960" cy="364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pt-BR" sz="1800" strike="noStrike" u="none">
                <a:solidFill>
                  <a:srgbClr val="253a44"/>
                </a:solidFill>
                <a:effectLst/>
                <a:uFillTx/>
                <a:latin typeface="Source Serif Pro"/>
                <a:ea typeface="Calibri"/>
              </a:rPr>
              <a:t>O modelo de dados podemos apenas explorar o aspecto dado.  </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CaixaDeTexto 2"/>
          <p:cNvSpPr/>
          <p:nvPr/>
        </p:nvSpPr>
        <p:spPr>
          <a:xfrm>
            <a:off x="2253600" y="987480"/>
            <a:ext cx="7684560" cy="30128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spcBef>
                <a:spcPts val="201"/>
              </a:spcBef>
            </a:pPr>
            <a:r>
              <a:rPr b="1" lang="pt-BR" sz="1600" strike="noStrike" u="none">
                <a:solidFill>
                  <a:srgbClr val="000000"/>
                </a:solidFill>
                <a:effectLst/>
                <a:uFillTx/>
                <a:latin typeface="Calibri"/>
                <a:ea typeface="Times New Roman"/>
              </a:rPr>
              <a:t>Modelagem de dados é o processo de diagramação do fluxo de dados</a:t>
            </a:r>
            <a:r>
              <a:rPr b="0" lang="pt-BR" sz="1600" strike="noStrike" u="none">
                <a:solidFill>
                  <a:srgbClr val="000000"/>
                </a:solidFill>
                <a:effectLst/>
                <a:uFillTx/>
                <a:latin typeface="Calibri"/>
                <a:ea typeface="Times New Roman"/>
              </a:rPr>
              <a:t>. Quando cria uma estrutura nova ou alternativa de banco de dados, o projetista começa com um diagrama de como os dados vão fluir para dentro e para fora do banco de dados. </a:t>
            </a:r>
            <a:r>
              <a:rPr b="1" lang="pt-BR" sz="1600" strike="noStrike" u="none">
                <a:solidFill>
                  <a:srgbClr val="000000"/>
                </a:solidFill>
                <a:effectLst/>
                <a:uFillTx/>
                <a:latin typeface="Calibri"/>
                <a:ea typeface="Times New Roman"/>
              </a:rPr>
              <a:t>Este fluxograma é usado para definir as características</a:t>
            </a:r>
            <a:r>
              <a:rPr b="0" lang="pt-BR" sz="1600" strike="noStrike" u="none">
                <a:solidFill>
                  <a:srgbClr val="000000"/>
                </a:solidFill>
                <a:effectLst/>
                <a:uFillTx/>
                <a:latin typeface="Calibri"/>
                <a:ea typeface="Times New Roman"/>
              </a:rPr>
              <a:t> dos formatos de dados, </a:t>
            </a:r>
            <a:r>
              <a:rPr b="1" lang="pt-BR" sz="1600" strike="noStrike" u="none">
                <a:solidFill>
                  <a:srgbClr val="000000"/>
                </a:solidFill>
                <a:effectLst/>
                <a:uFillTx/>
                <a:latin typeface="Calibri"/>
                <a:ea typeface="Times New Roman"/>
              </a:rPr>
              <a:t>estruturas e funções</a:t>
            </a:r>
            <a:r>
              <a:rPr b="0" lang="pt-BR" sz="1600" strike="noStrike" u="none">
                <a:solidFill>
                  <a:srgbClr val="000000"/>
                </a:solidFill>
                <a:effectLst/>
                <a:uFillTx/>
                <a:latin typeface="Calibri"/>
                <a:ea typeface="Times New Roman"/>
              </a:rPr>
              <a:t> de processamento de banco de dados para atender com eficiência os requisitos do fluxo de dados. Depois da criação e implementação do banco de dados, o modelo permanece ativo e se torna a documentação e a justificativa da existência do banco de dados e de como o fluxo de dados foi projetado.</a:t>
            </a:r>
            <a:endParaRPr b="0" lang="pt-BR"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CaixaDeTexto 2"/>
          <p:cNvSpPr/>
          <p:nvPr/>
        </p:nvSpPr>
        <p:spPr>
          <a:xfrm>
            <a:off x="2249280" y="680040"/>
            <a:ext cx="8051760" cy="4858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pt-BR" sz="4800" strike="noStrike" u="none">
                <a:solidFill>
                  <a:srgbClr val="000000"/>
                </a:solidFill>
                <a:effectLst/>
                <a:uFillTx/>
                <a:latin typeface="Arial"/>
                <a:ea typeface="Times New Roman"/>
              </a:rPr>
              <a:t>Por que a modelagem de dados é importante?</a:t>
            </a:r>
            <a:endParaRPr b="0" lang="pt-BR" sz="4800" strike="noStrike" u="none">
              <a:solidFill>
                <a:srgbClr val="000000"/>
              </a:solidFill>
              <a:effectLst/>
              <a:uFillTx/>
              <a:latin typeface="Arial"/>
            </a:endParaRPr>
          </a:p>
          <a:p>
            <a:pPr algn="ctr" defTabSz="914400">
              <a:lnSpc>
                <a:spcPct val="100000"/>
              </a:lnSpc>
            </a:pPr>
            <a:endParaRPr b="0" lang="pt-BR" sz="2800" strike="noStrike" u="none">
              <a:solidFill>
                <a:srgbClr val="000000"/>
              </a:solidFill>
              <a:effectLst/>
              <a:uFillTx/>
              <a:latin typeface="Arial"/>
            </a:endParaRPr>
          </a:p>
          <a:p>
            <a:pPr algn="just" defTabSz="914400">
              <a:lnSpc>
                <a:spcPct val="150000"/>
              </a:lnSpc>
            </a:pPr>
            <a:r>
              <a:rPr b="0" lang="pt-BR" sz="1800" strike="noStrike" u="none">
                <a:solidFill>
                  <a:srgbClr val="3c3c3c"/>
                </a:solidFill>
                <a:effectLst/>
                <a:uFillTx/>
                <a:latin typeface="Arial"/>
                <a:ea typeface="Times New Roman"/>
              </a:rPr>
              <a:t>O modelo de dados abrangente e otimizado ajuda a criar um banco de dados lógico e simplificado que elimina redundâncias, reduz os requisitos de armazenamento e permite a recuperação eficiente. Ele também fornece a todos os sistemas uma "única fonte da verdade", essencial para a eficácia das operações e o compliance comprovado com as regras e os requisitos regulatórios. A modelagem de dados é uma etapa fundamental de duas funções vitais da empresa digital.</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CaixaDeTexto 2"/>
          <p:cNvSpPr/>
          <p:nvPr/>
        </p:nvSpPr>
        <p:spPr>
          <a:xfrm>
            <a:off x="2527560" y="1118520"/>
            <a:ext cx="609696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pt-BR" sz="1800" strike="noStrike" u="none">
                <a:solidFill>
                  <a:srgbClr val="000000"/>
                </a:solidFill>
                <a:effectLst/>
                <a:uFillTx/>
                <a:latin typeface="Arial"/>
                <a:ea typeface="Times New Roman"/>
              </a:rPr>
              <a:t>Quais são os tipos de modelagem de dados?</a:t>
            </a:r>
            <a:endParaRPr b="0" lang="pt-BR" sz="1800" strike="noStrike" u="none">
              <a:solidFill>
                <a:srgbClr val="000000"/>
              </a:solidFill>
              <a:effectLst/>
              <a:uFillTx/>
              <a:latin typeface="Arial"/>
            </a:endParaRPr>
          </a:p>
        </p:txBody>
      </p:sp>
      <p:sp>
        <p:nvSpPr>
          <p:cNvPr id="93" name="CaixaDeTexto 4"/>
          <p:cNvSpPr/>
          <p:nvPr/>
        </p:nvSpPr>
        <p:spPr>
          <a:xfrm>
            <a:off x="2715480" y="2176560"/>
            <a:ext cx="775296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pt-BR" sz="1800" strike="noStrike" u="none">
                <a:solidFill>
                  <a:srgbClr val="3c3c3c"/>
                </a:solidFill>
                <a:effectLst/>
                <a:uFillTx/>
                <a:latin typeface="Arial"/>
                <a:ea typeface="Calibri"/>
              </a:rPr>
              <a:t>Os três tipos primários de modelagem são relacional, dimensional e entidade-relacionamento (E-R). </a:t>
            </a:r>
            <a:endParaRPr b="0" lang="pt-BR" sz="1800" strike="noStrike" u="none">
              <a:solidFill>
                <a:srgbClr val="000000"/>
              </a:solidFill>
              <a:effectLst/>
              <a:uFillTx/>
              <a:latin typeface="Arial"/>
            </a:endParaRPr>
          </a:p>
        </p:txBody>
      </p:sp>
      <p:sp>
        <p:nvSpPr>
          <p:cNvPr id="94" name="CaixaDeTexto 6"/>
          <p:cNvSpPr/>
          <p:nvPr/>
        </p:nvSpPr>
        <p:spPr>
          <a:xfrm>
            <a:off x="2629800" y="3091320"/>
            <a:ext cx="7675920" cy="12938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pt-BR" sz="1800" strike="noStrike" u="none">
                <a:solidFill>
                  <a:srgbClr val="3c3c3c"/>
                </a:solidFill>
                <a:effectLst/>
                <a:uFillTx/>
                <a:latin typeface="Arial"/>
                <a:ea typeface="Calibri"/>
              </a:rPr>
              <a:t>Relacional:</a:t>
            </a:r>
            <a:r>
              <a:rPr b="0" lang="pt-BR" sz="1800" strike="noStrike" u="none">
                <a:solidFill>
                  <a:srgbClr val="3c3c3c"/>
                </a:solidFill>
                <a:effectLst/>
                <a:uFillTx/>
                <a:latin typeface="Arial"/>
                <a:ea typeface="Calibri"/>
              </a:rPr>
              <a:t> embora de abordagem "mais antiga", o modelo mais comum de banco de dados em uso é o relacional, que armazena os dados em registros de formato fixo e os organiza em tabelas, com linhas e colunas</a:t>
            </a:r>
            <a:endParaRPr b="0" lang="pt-BR" sz="1800" strike="noStrike" u="none">
              <a:solidFill>
                <a:srgbClr val="000000"/>
              </a:solidFill>
              <a:effectLst/>
              <a:uFillTx/>
              <a:latin typeface="Arial"/>
            </a:endParaRPr>
          </a:p>
        </p:txBody>
      </p:sp>
      <p:sp>
        <p:nvSpPr>
          <p:cNvPr id="95" name="CaixaDeTexto 8"/>
          <p:cNvSpPr/>
          <p:nvPr/>
        </p:nvSpPr>
        <p:spPr>
          <a:xfrm>
            <a:off x="2629800" y="4524840"/>
            <a:ext cx="7581960" cy="129384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0" lang="pt-BR" sz="1800" strike="noStrike" u="none">
                <a:solidFill>
                  <a:srgbClr val="3c3c3c"/>
                </a:solidFill>
                <a:effectLst/>
                <a:uFillTx/>
                <a:latin typeface="Arial"/>
                <a:ea typeface="Calibri"/>
              </a:rPr>
              <a:t>Outros termos usados no projeto de bancos de dados relacionais são “relações” (a tabela com linhas e colunas), “atributos” (colunas), “tuplas” (linhas) e “domínio” (conjunto de valores permitidos em uma coluna).</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CaixaDeTexto 2"/>
          <p:cNvSpPr/>
          <p:nvPr/>
        </p:nvSpPr>
        <p:spPr>
          <a:xfrm>
            <a:off x="1886400" y="1162800"/>
            <a:ext cx="8017920" cy="115560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50000"/>
              </a:lnSpc>
              <a:tabLst>
                <a:tab algn="l" pos="0"/>
              </a:tabLst>
            </a:pPr>
            <a:r>
              <a:rPr b="0" lang="pt-BR" sz="1600" strike="noStrike" u="none">
                <a:solidFill>
                  <a:srgbClr val="3c3c3c"/>
                </a:solidFill>
                <a:effectLst/>
                <a:uFillTx/>
                <a:latin typeface="Arial"/>
                <a:ea typeface="Times New Roman"/>
              </a:rPr>
              <a:t>Os elementos de dados em comum (ou chaves) ligam tabelas e conjuntos de dados. As tabelas também podem ser relacionadas explicitamente, como relações pai-filho, um para um, um para muitos ou muitos para muitos.</a:t>
            </a:r>
            <a:endParaRPr b="0" lang="pt-BR" sz="1600" strike="noStrike" u="none">
              <a:solidFill>
                <a:srgbClr val="000000"/>
              </a:solidFill>
              <a:effectLst/>
              <a:uFillTx/>
              <a:latin typeface="Arial"/>
            </a:endParaRPr>
          </a:p>
        </p:txBody>
      </p:sp>
      <p:sp>
        <p:nvSpPr>
          <p:cNvPr id="97" name="CaixaDeTexto 4"/>
          <p:cNvSpPr/>
          <p:nvPr/>
        </p:nvSpPr>
        <p:spPr>
          <a:xfrm>
            <a:off x="1886400" y="2547000"/>
            <a:ext cx="8684280" cy="29556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pt-BR" sz="1800" strike="noStrike" u="none">
                <a:solidFill>
                  <a:srgbClr val="3c3c3c"/>
                </a:solidFill>
                <a:effectLst/>
                <a:uFillTx/>
                <a:latin typeface="Arial"/>
                <a:ea typeface="Calibri"/>
              </a:rPr>
              <a:t>Dimensional:</a:t>
            </a:r>
            <a:r>
              <a:rPr b="0" lang="pt-BR" sz="1800" strike="noStrike" u="none">
                <a:solidFill>
                  <a:srgbClr val="3c3c3c"/>
                </a:solidFill>
                <a:effectLst/>
                <a:uFillTx/>
                <a:latin typeface="Arial"/>
                <a:ea typeface="Calibri"/>
              </a:rPr>
              <a:t> menos rígida e estruturada, a abordagem dimensional favorece uma estrutura contextual de dados mais relacionada ao contexto ou uso nos negócios. Essa estrutura de banco de dados é otimizada para consultas online e ferramentas de </a:t>
            </a:r>
            <a:r>
              <a:rPr b="0" lang="pt-BR" sz="1800" strike="noStrike" u="sng">
                <a:solidFill>
                  <a:srgbClr val="0563c1"/>
                </a:solidFill>
                <a:effectLst/>
                <a:uFillTx/>
                <a:latin typeface="Arial"/>
                <a:ea typeface="Times New Roman"/>
                <a:hlinkClick r:id="rId1"/>
              </a:rPr>
              <a:t>armazenamento de dados</a:t>
            </a:r>
            <a:r>
              <a:rPr b="0" lang="pt-BR" sz="1800" strike="noStrike" u="none">
                <a:solidFill>
                  <a:srgbClr val="3c3c3c"/>
                </a:solidFill>
                <a:effectLst/>
                <a:uFillTx/>
                <a:latin typeface="Arial"/>
                <a:ea typeface="Calibri"/>
              </a:rPr>
              <a:t>. Elementos fundamentais, como quantidade de transações, por exemplo, são denominados “fatos” e acompanhados por informações de referência chamadas “dimensões”, como ID do produto, preço unitário ou data da transação</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CaixaDeTexto 2"/>
          <p:cNvSpPr/>
          <p:nvPr/>
        </p:nvSpPr>
        <p:spPr>
          <a:xfrm>
            <a:off x="1877760" y="1118160"/>
            <a:ext cx="7692840" cy="433116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50000"/>
              </a:lnSpc>
              <a:spcBef>
                <a:spcPts val="499"/>
              </a:spcBef>
              <a:tabLst>
                <a:tab algn="l" pos="0"/>
              </a:tabLst>
            </a:pPr>
            <a:r>
              <a:rPr b="1" lang="pt-BR" sz="1800" strike="noStrike" u="none">
                <a:solidFill>
                  <a:srgbClr val="3c3c3c"/>
                </a:solidFill>
                <a:effectLst/>
                <a:uFillTx/>
                <a:latin typeface="Arial"/>
                <a:ea typeface="Times New Roman"/>
              </a:rPr>
              <a:t>Entidade-relacionamento (E-R):</a:t>
            </a:r>
            <a:endParaRPr b="0" lang="pt-BR" sz="1800" strike="noStrike" u="none">
              <a:solidFill>
                <a:srgbClr val="000000"/>
              </a:solidFill>
              <a:effectLst/>
              <a:uFillTx/>
              <a:latin typeface="Arial"/>
            </a:endParaRPr>
          </a:p>
          <a:p>
            <a:pPr marL="343080" indent="-343080" algn="just" defTabSz="914400">
              <a:lnSpc>
                <a:spcPct val="150000"/>
              </a:lnSpc>
              <a:spcBef>
                <a:spcPts val="499"/>
              </a:spcBef>
              <a:tabLst>
                <a:tab algn="l" pos="0"/>
              </a:tabLst>
            </a:pPr>
            <a:endParaRPr b="0" lang="pt-BR" sz="1800" strike="noStrike" u="none">
              <a:solidFill>
                <a:srgbClr val="000000"/>
              </a:solidFill>
              <a:effectLst/>
              <a:uFillTx/>
              <a:latin typeface="Arial"/>
            </a:endParaRPr>
          </a:p>
          <a:p>
            <a:pPr marL="343080" indent="-343080" algn="just" defTabSz="914400">
              <a:lnSpc>
                <a:spcPct val="150000"/>
              </a:lnSpc>
              <a:spcBef>
                <a:spcPts val="499"/>
              </a:spcBef>
              <a:tabLst>
                <a:tab algn="l" pos="0"/>
              </a:tabLst>
            </a:pPr>
            <a:r>
              <a:rPr b="0" lang="pt-BR" sz="1800" strike="noStrike" u="none">
                <a:solidFill>
                  <a:srgbClr val="3c3c3c"/>
                </a:solidFill>
                <a:effectLst/>
                <a:uFillTx/>
                <a:latin typeface="Arial"/>
                <a:ea typeface="Times New Roman"/>
              </a:rPr>
              <a:t> </a:t>
            </a:r>
            <a:r>
              <a:rPr b="1" lang="pt-BR" sz="1800" strike="noStrike" u="none">
                <a:solidFill>
                  <a:srgbClr val="3c3c3c"/>
                </a:solidFill>
                <a:effectLst/>
                <a:uFillTx/>
                <a:latin typeface="Arial"/>
                <a:ea typeface="Times New Roman"/>
              </a:rPr>
              <a:t>O modelo E-R</a:t>
            </a:r>
            <a:r>
              <a:rPr b="0" lang="pt-BR" sz="1800" strike="noStrike" u="none">
                <a:solidFill>
                  <a:srgbClr val="3c3c3c"/>
                </a:solidFill>
                <a:effectLst/>
                <a:uFillTx/>
                <a:latin typeface="Arial"/>
                <a:ea typeface="Times New Roman"/>
              </a:rPr>
              <a:t> é uma estrutura de dados de negócios em forma de gráfico, com vários formatos de caixas que representam atividades, funções ou "entidades" e linhas que representam associações, dependências ou "relacionamentos". O modelo E-R é usado para criar um banco de dados relacional em que cada linha representa uma entidade e os campos nessa linha contêm atributos. Como em todos os bancos de dados relacionais, os elementos de dados "</a:t>
            </a:r>
            <a:r>
              <a:rPr b="1" lang="pt-BR" sz="1800" strike="noStrike" u="none">
                <a:solidFill>
                  <a:srgbClr val="3c3c3c"/>
                </a:solidFill>
                <a:effectLst/>
                <a:uFillTx/>
                <a:latin typeface="Arial"/>
                <a:ea typeface="Times New Roman"/>
              </a:rPr>
              <a:t>chave</a:t>
            </a:r>
            <a:r>
              <a:rPr b="0" lang="pt-BR" sz="1800" strike="noStrike" u="none">
                <a:solidFill>
                  <a:srgbClr val="3c3c3c"/>
                </a:solidFill>
                <a:effectLst/>
                <a:uFillTx/>
                <a:latin typeface="Arial"/>
                <a:ea typeface="Times New Roman"/>
              </a:rPr>
              <a:t>" são usados para vincular tabelas.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
          <p:cNvSpPr txBox="1"/>
          <p:nvPr/>
        </p:nvSpPr>
        <p:spPr>
          <a:xfrm>
            <a:off x="2987640" y="707040"/>
            <a:ext cx="5831640" cy="2406240"/>
          </a:xfrm>
          <a:prstGeom prst="rect">
            <a:avLst/>
          </a:prstGeom>
          <a:noFill/>
          <a:ln w="0">
            <a:noFill/>
          </a:ln>
        </p:spPr>
        <p:txBody>
          <a:bodyPr lIns="90000" rIns="90000" tIns="45000" bIns="45000" anchor="t">
            <a:spAutoFit/>
          </a:bodyPr>
          <a:p>
            <a:r>
              <a:rPr b="1" lang="pt-BR" sz="2100" strike="noStrike" u="none">
                <a:solidFill>
                  <a:srgbClr val="000000"/>
                </a:solidFill>
                <a:effectLst/>
                <a:uFillTx/>
                <a:latin typeface="Arial"/>
              </a:rPr>
              <a:t>Entidade no DER</a:t>
            </a:r>
            <a:endParaRPr b="0" lang="pt-BR" sz="2100" strike="noStrike" u="none">
              <a:solidFill>
                <a:srgbClr val="000000"/>
              </a:solidFill>
              <a:effectLst/>
              <a:uFillTx/>
              <a:latin typeface="Arial"/>
            </a:endParaRPr>
          </a:p>
          <a:p>
            <a:endParaRPr b="0" lang="pt-BR" sz="1000" strike="noStrike" u="none">
              <a:solidFill>
                <a:srgbClr val="000000"/>
              </a:solidFill>
              <a:effectLst/>
              <a:uFillTx/>
              <a:latin typeface="Arial"/>
            </a:endParaRPr>
          </a:p>
          <a:p>
            <a:r>
              <a:rPr b="0" lang="pt-BR" sz="1000" strike="noStrike" u="none">
                <a:solidFill>
                  <a:srgbClr val="000000"/>
                </a:solidFill>
                <a:effectLst/>
                <a:uFillTx/>
                <a:latin typeface="Arial"/>
              </a:rPr>
              <a:t> </a:t>
            </a:r>
            <a:r>
              <a:rPr b="0" lang="pt-BR" sz="1800" strike="noStrike" u="none">
                <a:solidFill>
                  <a:srgbClr val="000000"/>
                </a:solidFill>
                <a:effectLst/>
                <a:uFillTx/>
                <a:latin typeface="Arial"/>
              </a:rPr>
              <a:t>• Representada através de um retângulo </a:t>
            </a:r>
            <a:endParaRPr b="0" lang="pt-BR" sz="1800" strike="noStrike" u="none">
              <a:solidFill>
                <a:srgbClr val="000000"/>
              </a:solidFill>
              <a:effectLst/>
              <a:uFillTx/>
              <a:latin typeface="Arial"/>
            </a:endParaRPr>
          </a:p>
          <a:p>
            <a:endParaRPr b="0" lang="pt-BR" sz="1800" strike="noStrike" u="none">
              <a:solidFill>
                <a:srgbClr val="000000"/>
              </a:solidFill>
              <a:effectLst/>
              <a:uFillTx/>
              <a:latin typeface="Arial"/>
            </a:endParaRPr>
          </a:p>
          <a:p>
            <a:r>
              <a:rPr b="0" lang="pt-BR" sz="1800" strike="noStrike" u="none">
                <a:solidFill>
                  <a:srgbClr val="000000"/>
                </a:solidFill>
                <a:effectLst/>
                <a:uFillTx/>
                <a:latin typeface="Arial"/>
              </a:rPr>
              <a:t>• Retângulo contém o nome da entidade. </a:t>
            </a:r>
            <a:endParaRPr b="0" lang="pt-BR" sz="1800" strike="noStrike" u="none">
              <a:solidFill>
                <a:srgbClr val="000000"/>
              </a:solidFill>
              <a:effectLst/>
              <a:uFillTx/>
              <a:latin typeface="Arial"/>
            </a:endParaRPr>
          </a:p>
        </p:txBody>
      </p:sp>
      <p:pic>
        <p:nvPicPr>
          <p:cNvPr id="100" name="" descr=""/>
          <p:cNvPicPr/>
          <p:nvPr/>
        </p:nvPicPr>
        <p:blipFill>
          <a:blip r:embed="rId1"/>
          <a:stretch/>
        </p:blipFill>
        <p:spPr>
          <a:xfrm>
            <a:off x="3432240" y="3485160"/>
            <a:ext cx="4381200" cy="92916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CaixaDeTexto 6"/>
          <p:cNvSpPr/>
          <p:nvPr/>
        </p:nvSpPr>
        <p:spPr>
          <a:xfrm>
            <a:off x="1972080" y="934920"/>
            <a:ext cx="8427960" cy="2827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pt-BR" sz="2800" strike="noStrike" u="none">
                <a:solidFill>
                  <a:srgbClr val="000000"/>
                </a:solidFill>
                <a:effectLst/>
                <a:uFillTx/>
                <a:latin typeface="Arial"/>
                <a:ea typeface="Times New Roman"/>
              </a:rPr>
              <a:t>Quais são os três níveis de abstração de dados?</a:t>
            </a:r>
            <a:endParaRPr b="0" lang="pt-BR" sz="2800" strike="noStrike" u="none">
              <a:solidFill>
                <a:srgbClr val="000000"/>
              </a:solidFill>
              <a:effectLst/>
              <a:uFillTx/>
              <a:latin typeface="Arial"/>
            </a:endParaRPr>
          </a:p>
          <a:p>
            <a:pPr defTabSz="914400">
              <a:lnSpc>
                <a:spcPct val="100000"/>
              </a:lnSpc>
            </a:pPr>
            <a:endParaRPr b="0" lang="pt-BR" sz="1800" strike="noStrike" u="none">
              <a:solidFill>
                <a:srgbClr val="000000"/>
              </a:solidFill>
              <a:effectLst/>
              <a:uFillTx/>
              <a:latin typeface="Arial"/>
            </a:endParaRPr>
          </a:p>
          <a:p>
            <a:pPr algn="just" defTabSz="914400">
              <a:lnSpc>
                <a:spcPct val="15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3c3c3c"/>
                </a:solidFill>
                <a:effectLst/>
                <a:uFillTx/>
                <a:latin typeface="Arial"/>
                <a:ea typeface="Times New Roman"/>
              </a:rPr>
              <a:t>Existem vários tipos de modelos de dados, com diferentes tipos de layout possíveis. A comunidade de processamento de dados identifica três tipos de modelagem para representar os níveis de pensamento à medida que os modelos são desenvolvidos.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CaixaDeTexto 2"/>
          <p:cNvSpPr/>
          <p:nvPr/>
        </p:nvSpPr>
        <p:spPr>
          <a:xfrm>
            <a:off x="2339280" y="1035360"/>
            <a:ext cx="7650360" cy="3484800"/>
          </a:xfrm>
          <a:prstGeom prst="rect">
            <a:avLst/>
          </a:prstGeom>
          <a:noFill/>
          <a:ln w="0">
            <a:noFill/>
          </a:ln>
        </p:spPr>
        <p:style>
          <a:lnRef idx="0"/>
          <a:fillRef idx="0"/>
          <a:effectRef idx="0"/>
          <a:fontRef idx="minor"/>
        </p:style>
        <p:txBody>
          <a:bodyPr lIns="90000" rIns="90000" tIns="45000" bIns="45000" anchor="t">
            <a:spAutoFit/>
          </a:bodyPr>
          <a:p>
            <a:pPr defTabSz="914400">
              <a:lnSpc>
                <a:spcPct val="107000"/>
              </a:lnSpc>
              <a:spcBef>
                <a:spcPts val="201"/>
              </a:spcBef>
            </a:pPr>
            <a:r>
              <a:rPr b="1" lang="pt-BR" sz="4000" strike="noStrike" u="none">
                <a:solidFill>
                  <a:srgbClr val="000000"/>
                </a:solidFill>
                <a:effectLst/>
                <a:uFillTx/>
                <a:latin typeface="Arial"/>
                <a:ea typeface="Times New Roman"/>
              </a:rPr>
              <a:t>Modelo de dados conceitual</a:t>
            </a:r>
            <a:endParaRPr b="0" lang="pt-BR" sz="4000" strike="noStrike" u="none">
              <a:solidFill>
                <a:srgbClr val="000000"/>
              </a:solidFill>
              <a:effectLst/>
              <a:uFillTx/>
              <a:latin typeface="Arial"/>
            </a:endParaRPr>
          </a:p>
          <a:p>
            <a:pPr defTabSz="914400">
              <a:lnSpc>
                <a:spcPct val="100000"/>
              </a:lnSpc>
            </a:pPr>
            <a:r>
              <a:rPr b="0" lang="pt-BR" sz="1800" strike="noStrike" u="none">
                <a:solidFill>
                  <a:srgbClr val="3c3c3c"/>
                </a:solidFill>
                <a:effectLst/>
                <a:uFillTx/>
                <a:latin typeface="Arial"/>
                <a:ea typeface="Times New Roman"/>
              </a:rPr>
              <a:t> </a:t>
            </a: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3c3c3c"/>
                </a:solidFill>
                <a:effectLst/>
                <a:uFillTx/>
                <a:latin typeface="Arial"/>
                <a:ea typeface="Calibri"/>
              </a:rPr>
              <a:t>Este é o modelo do "</a:t>
            </a:r>
            <a:r>
              <a:rPr b="1" lang="pt-BR" sz="1800" strike="noStrike" u="none">
                <a:solidFill>
                  <a:srgbClr val="3c3c3c"/>
                </a:solidFill>
                <a:effectLst/>
                <a:uFillTx/>
                <a:latin typeface="Arial"/>
                <a:ea typeface="Calibri"/>
              </a:rPr>
              <a:t>quadro maior</a:t>
            </a:r>
            <a:r>
              <a:rPr b="0" lang="pt-BR" sz="1800" strike="noStrike" u="none">
                <a:solidFill>
                  <a:srgbClr val="3c3c3c"/>
                </a:solidFill>
                <a:effectLst/>
                <a:uFillTx/>
                <a:latin typeface="Arial"/>
                <a:ea typeface="Calibri"/>
              </a:rPr>
              <a:t>", que representa a estrutura e o conteúdo geral, mas não os detalhes do plano de dados. </a:t>
            </a:r>
            <a:r>
              <a:rPr b="1" lang="pt-BR" sz="1800" strike="noStrike" u="none">
                <a:solidFill>
                  <a:srgbClr val="3c3c3c"/>
                </a:solidFill>
                <a:effectLst/>
                <a:uFillTx/>
                <a:latin typeface="Arial"/>
                <a:ea typeface="Calibri"/>
              </a:rPr>
              <a:t>É o ponto de partida</a:t>
            </a:r>
            <a:r>
              <a:rPr b="0" lang="pt-BR" sz="1800" strike="noStrike" u="none">
                <a:solidFill>
                  <a:srgbClr val="3c3c3c"/>
                </a:solidFill>
                <a:effectLst/>
                <a:uFillTx/>
                <a:latin typeface="Arial"/>
                <a:ea typeface="Calibri"/>
              </a:rPr>
              <a:t> típico para a modelagem de dados e identifica os vários conjuntos de dados e seu fluxo pela organização. </a:t>
            </a:r>
            <a:r>
              <a:rPr b="1" lang="pt-BR" sz="1800" strike="noStrike" u="none">
                <a:solidFill>
                  <a:srgbClr val="3c3c3c"/>
                </a:solidFill>
                <a:effectLst/>
                <a:uFillTx/>
                <a:latin typeface="Arial"/>
                <a:ea typeface="Calibri"/>
              </a:rPr>
              <a:t>O modelo conceitual é o plano geral para o desenvolvimento dos modelos lógicos e físicos</a:t>
            </a:r>
            <a:r>
              <a:rPr b="0" lang="pt-BR" sz="1800" strike="noStrike" u="none">
                <a:solidFill>
                  <a:srgbClr val="3c3c3c"/>
                </a:solidFill>
                <a:effectLst/>
                <a:uFillTx/>
                <a:latin typeface="Arial"/>
                <a:ea typeface="Calibri"/>
              </a:rPr>
              <a:t> e parte importante da documentação da arquitetura de dados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CaixaDeTexto 2"/>
          <p:cNvSpPr/>
          <p:nvPr/>
        </p:nvSpPr>
        <p:spPr>
          <a:xfrm>
            <a:off x="2484360" y="1060200"/>
            <a:ext cx="8462520" cy="4307760"/>
          </a:xfrm>
          <a:prstGeom prst="rect">
            <a:avLst/>
          </a:prstGeom>
          <a:noFill/>
          <a:ln w="0">
            <a:noFill/>
          </a:ln>
        </p:spPr>
        <p:style>
          <a:lnRef idx="0"/>
          <a:fillRef idx="0"/>
          <a:effectRef idx="0"/>
          <a:fontRef idx="minor"/>
        </p:style>
        <p:txBody>
          <a:bodyPr lIns="90000" rIns="90000" tIns="45000" bIns="45000" anchor="t">
            <a:spAutoFit/>
          </a:bodyPr>
          <a:p>
            <a:pPr defTabSz="914400">
              <a:lnSpc>
                <a:spcPct val="107000"/>
              </a:lnSpc>
              <a:spcBef>
                <a:spcPts val="201"/>
              </a:spcBef>
            </a:pPr>
            <a:r>
              <a:rPr b="1" lang="pt-BR" sz="4000" strike="noStrike" u="none">
                <a:solidFill>
                  <a:srgbClr val="000000"/>
                </a:solidFill>
                <a:effectLst/>
                <a:uFillTx/>
                <a:latin typeface="Arial"/>
                <a:ea typeface="Times New Roman"/>
              </a:rPr>
              <a:t>Modelo de dados lógico (MLD)</a:t>
            </a:r>
            <a:endParaRPr b="0" lang="pt-BR" sz="4000" strike="noStrike" u="none">
              <a:solidFill>
                <a:srgbClr val="000000"/>
              </a:solidFill>
              <a:effectLst/>
              <a:uFillTx/>
              <a:latin typeface="Arial"/>
            </a:endParaRPr>
          </a:p>
          <a:p>
            <a:pPr defTabSz="914400">
              <a:lnSpc>
                <a:spcPct val="100000"/>
              </a:lnSpc>
            </a:pPr>
            <a:r>
              <a:rPr b="0" lang="pt-BR" sz="1800" strike="noStrike" u="none">
                <a:solidFill>
                  <a:srgbClr val="3c3c3c"/>
                </a:solidFill>
                <a:effectLst/>
                <a:uFillTx/>
                <a:latin typeface="Arial"/>
                <a:ea typeface="Times New Roman"/>
              </a:rPr>
              <a:t> </a:t>
            </a:r>
            <a:endParaRPr b="0" lang="pt-BR" sz="1800" strike="noStrike" u="none">
              <a:solidFill>
                <a:srgbClr val="000000"/>
              </a:solidFill>
              <a:effectLst/>
              <a:uFillTx/>
              <a:latin typeface="Arial"/>
            </a:endParaRPr>
          </a:p>
          <a:p>
            <a:pPr algn="just" defTabSz="914400">
              <a:lnSpc>
                <a:spcPct val="150000"/>
              </a:lnSpc>
            </a:pPr>
            <a:r>
              <a:rPr b="1" lang="pt-BR" sz="1800" strike="noStrike" u="none">
                <a:solidFill>
                  <a:srgbClr val="3c3c3c"/>
                </a:solidFill>
                <a:effectLst/>
                <a:uFillTx/>
                <a:latin typeface="Arial"/>
                <a:ea typeface="Times New Roman"/>
              </a:rPr>
              <a:t>O segundo nível de detalhamento é o modelo de dados lógico</a:t>
            </a:r>
            <a:r>
              <a:rPr b="0" lang="pt-BR" sz="1800" strike="noStrike" u="none">
                <a:solidFill>
                  <a:srgbClr val="3c3c3c"/>
                </a:solidFill>
                <a:effectLst/>
                <a:uFillTx/>
                <a:latin typeface="Arial"/>
                <a:ea typeface="Times New Roman"/>
              </a:rPr>
              <a:t>. Ele está relacionado mais estreitamente à definição geral de "modelo de dados", pois </a:t>
            </a:r>
            <a:r>
              <a:rPr b="1" lang="pt-BR" sz="1800" strike="noStrike" u="none">
                <a:solidFill>
                  <a:srgbClr val="3c3c3c"/>
                </a:solidFill>
                <a:effectLst/>
                <a:uFillTx/>
                <a:latin typeface="Arial"/>
                <a:ea typeface="Times New Roman"/>
              </a:rPr>
              <a:t>descreve o fluxo de dados e o conteúdo do banco de dados</a:t>
            </a:r>
            <a:r>
              <a:rPr b="0" lang="pt-BR" sz="1800" strike="noStrike" u="none">
                <a:solidFill>
                  <a:srgbClr val="3c3c3c"/>
                </a:solidFill>
                <a:effectLst/>
                <a:uFillTx/>
                <a:latin typeface="Arial"/>
                <a:ea typeface="Times New Roman"/>
              </a:rPr>
              <a:t>. O modelo lógico adiciona detalhes à estrutura global do modelo conceitual, mas não inclui especificações do banco de dados em si, uma vez que o modelo pode ser aplicado a vários produtos e tecnologias de banco de dados. (Observe que poderá não haver um modelo conceitual se o projeto estiver relacionado a uma única aplicação ou a outro sistema limitado.)</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CaixaDeTexto 2"/>
          <p:cNvSpPr/>
          <p:nvPr/>
        </p:nvSpPr>
        <p:spPr>
          <a:xfrm>
            <a:off x="2424960" y="1113480"/>
            <a:ext cx="8180280" cy="42955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spcBef>
                <a:spcPts val="201"/>
              </a:spcBef>
            </a:pPr>
            <a:r>
              <a:rPr b="1" lang="pt-BR" sz="4000" strike="noStrike" u="none">
                <a:solidFill>
                  <a:srgbClr val="000000"/>
                </a:solidFill>
                <a:effectLst/>
                <a:uFillTx/>
                <a:latin typeface="Arial"/>
                <a:ea typeface="Times New Roman"/>
              </a:rPr>
              <a:t>Modelo de dados físico(MFD)</a:t>
            </a:r>
            <a:endParaRPr b="0" lang="pt-BR" sz="4000" strike="noStrike" u="none">
              <a:solidFill>
                <a:srgbClr val="000000"/>
              </a:solidFill>
              <a:effectLst/>
              <a:uFillTx/>
              <a:latin typeface="Arial"/>
            </a:endParaRPr>
          </a:p>
          <a:p>
            <a:pPr algn="just" defTabSz="914400">
              <a:lnSpc>
                <a:spcPct val="150000"/>
              </a:lnSpc>
            </a:pPr>
            <a:r>
              <a:rPr b="0" lang="pt-BR" sz="1800" strike="noStrike" u="none">
                <a:solidFill>
                  <a:srgbClr val="3c3c3c"/>
                </a:solidFill>
                <a:effectLst/>
                <a:uFillTx/>
                <a:latin typeface="Arial"/>
                <a:ea typeface="Times New Roman"/>
              </a:rPr>
              <a:t> </a:t>
            </a:r>
            <a:endParaRPr b="0" lang="pt-BR" sz="1800" strike="noStrike" u="none">
              <a:solidFill>
                <a:srgbClr val="000000"/>
              </a:solidFill>
              <a:effectLst/>
              <a:uFillTx/>
              <a:latin typeface="Arial"/>
            </a:endParaRPr>
          </a:p>
          <a:p>
            <a:pPr algn="just" defTabSz="914400">
              <a:lnSpc>
                <a:spcPct val="150000"/>
              </a:lnSpc>
            </a:pPr>
            <a:r>
              <a:rPr b="1" lang="pt-BR" sz="1800" strike="noStrike" u="none">
                <a:solidFill>
                  <a:srgbClr val="3c3c3c"/>
                </a:solidFill>
                <a:effectLst/>
                <a:uFillTx/>
                <a:latin typeface="Arial"/>
                <a:ea typeface="Times New Roman"/>
              </a:rPr>
              <a:t>O modelo de banco de dados físico descreve as especificidades da realização do modelo lógico</a:t>
            </a:r>
            <a:r>
              <a:rPr b="0" lang="pt-BR" sz="1800" strike="noStrike" u="none">
                <a:solidFill>
                  <a:srgbClr val="3c3c3c"/>
                </a:solidFill>
                <a:effectLst/>
                <a:uFillTx/>
                <a:latin typeface="Arial"/>
                <a:ea typeface="Times New Roman"/>
              </a:rPr>
              <a:t>. Ele deve conter detalhes suficientes para que os tecnólogos criem a estrutura real do banco de dados em hardware e software para sustentar os aplicativos que vão usá-lo. O modelo de dados físico não é específico do sistema de software designado para o banco de dados. Poderá haver vários modelos físicos derivados de um único modelo lógico, se vários sistemas diferentes de banco de dados forem usados.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CaixaDeTexto 2"/>
          <p:cNvSpPr/>
          <p:nvPr/>
        </p:nvSpPr>
        <p:spPr>
          <a:xfrm>
            <a:off x="3108600" y="637200"/>
            <a:ext cx="6096960" cy="830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pt-BR" sz="2400" strike="noStrike" u="none">
                <a:solidFill>
                  <a:srgbClr val="000000"/>
                </a:solidFill>
                <a:effectLst/>
                <a:uFillTx/>
                <a:latin typeface="Arial"/>
                <a:ea typeface="Times New Roman"/>
              </a:rPr>
              <a:t>Processo e técnicas de modelagem de dados</a:t>
            </a:r>
            <a:endParaRPr b="0" lang="pt-BR" sz="2400" strike="noStrike" u="none">
              <a:solidFill>
                <a:srgbClr val="000000"/>
              </a:solidFill>
              <a:effectLst/>
              <a:uFillTx/>
              <a:latin typeface="Arial"/>
            </a:endParaRPr>
          </a:p>
        </p:txBody>
      </p:sp>
      <p:sp>
        <p:nvSpPr>
          <p:cNvPr id="106" name="CaixaDeTexto 4"/>
          <p:cNvSpPr/>
          <p:nvPr/>
        </p:nvSpPr>
        <p:spPr>
          <a:xfrm>
            <a:off x="2843280" y="2104560"/>
            <a:ext cx="7017840" cy="17038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3c3c3c"/>
                </a:solidFill>
                <a:effectLst/>
                <a:uFillTx/>
                <a:latin typeface="Arial"/>
                <a:ea typeface="Times New Roman"/>
              </a:rPr>
              <a:t>A modelagem de dados é um processo top-down, que começa com o </a:t>
            </a:r>
            <a:r>
              <a:rPr b="1" lang="pt-BR" sz="1800" strike="noStrike" u="none">
                <a:solidFill>
                  <a:srgbClr val="3c3c3c"/>
                </a:solidFill>
                <a:effectLst/>
                <a:uFillTx/>
                <a:latin typeface="Arial"/>
                <a:ea typeface="Times New Roman"/>
              </a:rPr>
              <a:t>modelo conceitual </a:t>
            </a:r>
            <a:r>
              <a:rPr b="0" lang="pt-BR" sz="1800" strike="noStrike" u="none">
                <a:solidFill>
                  <a:srgbClr val="3c3c3c"/>
                </a:solidFill>
                <a:effectLst/>
                <a:uFillTx/>
                <a:latin typeface="Arial"/>
                <a:ea typeface="Times New Roman"/>
              </a:rPr>
              <a:t>para estabelecer a visão geral, passa para o </a:t>
            </a:r>
            <a:r>
              <a:rPr b="1" lang="pt-BR" sz="1800" strike="noStrike" u="none">
                <a:solidFill>
                  <a:srgbClr val="3c3c3c"/>
                </a:solidFill>
                <a:effectLst/>
                <a:uFillTx/>
                <a:latin typeface="Arial"/>
                <a:ea typeface="Times New Roman"/>
              </a:rPr>
              <a:t>modelo lógico</a:t>
            </a:r>
            <a:r>
              <a:rPr b="0" lang="pt-BR" sz="1800" strike="noStrike" u="none">
                <a:solidFill>
                  <a:srgbClr val="3c3c3c"/>
                </a:solidFill>
                <a:effectLst/>
                <a:uFillTx/>
                <a:latin typeface="Arial"/>
                <a:ea typeface="Times New Roman"/>
              </a:rPr>
              <a:t> e, finalmente, para o projeto detalhado contido no </a:t>
            </a:r>
            <a:r>
              <a:rPr b="1" lang="pt-BR" sz="1800" strike="noStrike" u="none">
                <a:solidFill>
                  <a:srgbClr val="3c3c3c"/>
                </a:solidFill>
                <a:effectLst/>
                <a:uFillTx/>
                <a:latin typeface="Arial"/>
                <a:ea typeface="Times New Roman"/>
              </a:rPr>
              <a:t>modelo físico</a:t>
            </a:r>
            <a:r>
              <a:rPr b="0" lang="pt-BR" sz="1800" strike="noStrike" u="none">
                <a:solidFill>
                  <a:srgbClr val="3c3c3c"/>
                </a:solidFill>
                <a:effectLst/>
                <a:uFillTx/>
                <a:latin typeface="Arial"/>
                <a:ea typeface="Times New Roman"/>
              </a:rPr>
              <a:t>.</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CaixaDeTexto 1"/>
          <p:cNvSpPr/>
          <p:nvPr/>
        </p:nvSpPr>
        <p:spPr>
          <a:xfrm>
            <a:off x="2232360" y="1830600"/>
            <a:ext cx="6855120" cy="29505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3c3c3c"/>
                </a:solidFill>
                <a:effectLst/>
                <a:uFillTx/>
                <a:latin typeface="Arial"/>
                <a:ea typeface="Times New Roman"/>
              </a:rPr>
              <a:t>A construção do modelo conceitual é principalmente um processo de conversão de ideias em forma gráfica que se assemelha ao fluxograma de um programador.</a:t>
            </a:r>
            <a:endParaRPr b="0" lang="pt-BR" sz="1800" strike="noStrike" u="none">
              <a:solidFill>
                <a:srgbClr val="000000"/>
              </a:solidFill>
              <a:effectLst/>
              <a:uFillTx/>
              <a:latin typeface="Arial"/>
            </a:endParaRPr>
          </a:p>
          <a:p>
            <a:pPr defTabSz="914400">
              <a:lnSpc>
                <a:spcPct val="150000"/>
              </a:lnSpc>
            </a:pPr>
            <a:r>
              <a:rPr b="0" lang="pt-BR" sz="1800" strike="noStrike" u="none">
                <a:solidFill>
                  <a:srgbClr val="3c3c3c"/>
                </a:solidFill>
                <a:effectLst/>
                <a:uFillTx/>
                <a:latin typeface="Arial"/>
                <a:ea typeface="Times New Roman"/>
              </a:rPr>
              <a:t> As modernas ferramentas de modelagem de dados ajudam a definir e criar modelos de dados e bancos de dados lógicos e físicos. Aqui estão algumas técnicas e etapas típicas da modelagem de dados:</a:t>
            </a:r>
            <a:endParaRPr b="0" lang="pt-BR" sz="1800" strike="noStrike" u="none">
              <a:solidFill>
                <a:srgbClr val="000000"/>
              </a:solidFill>
              <a:effectLst/>
              <a:uFillTx/>
              <a:latin typeface="Arial"/>
            </a:endParaRPr>
          </a:p>
        </p:txBody>
      </p:sp>
      <p:sp>
        <p:nvSpPr>
          <p:cNvPr id="108" name="CaixaDeTexto 3"/>
          <p:cNvSpPr/>
          <p:nvPr/>
        </p:nvSpPr>
        <p:spPr>
          <a:xfrm>
            <a:off x="2313720" y="1074240"/>
            <a:ext cx="6096960" cy="36900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00000"/>
              </a:lnSpc>
              <a:buClr>
                <a:srgbClr val="3c3c3c"/>
              </a:buClr>
              <a:buFont typeface="Symbol" charset="2"/>
              <a:buChar char=""/>
              <a:tabLst>
                <a:tab algn="l" pos="457200"/>
              </a:tabLst>
            </a:pPr>
            <a:r>
              <a:rPr b="1" lang="pt-BR" sz="1800" strike="noStrike" u="none">
                <a:solidFill>
                  <a:srgbClr val="3c3c3c"/>
                </a:solidFill>
                <a:effectLst/>
                <a:uFillTx/>
                <a:latin typeface="Arial"/>
                <a:ea typeface="Times New Roman"/>
              </a:rPr>
              <a:t>Identifique o modelo conceitual</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CaixaDeTexto 2"/>
          <p:cNvSpPr/>
          <p:nvPr/>
        </p:nvSpPr>
        <p:spPr>
          <a:xfrm>
            <a:off x="2664000" y="935280"/>
            <a:ext cx="6770160" cy="364284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00000"/>
              </a:lnSpc>
              <a:buClr>
                <a:srgbClr val="3c3c3c"/>
              </a:buClr>
              <a:buFont typeface="Symbol" charset="2"/>
              <a:buChar char=""/>
              <a:tabLst>
                <a:tab algn="l" pos="457200"/>
              </a:tabLst>
            </a:pPr>
            <a:r>
              <a:rPr b="1" lang="pt-BR" sz="1800" strike="noStrike" u="none">
                <a:solidFill>
                  <a:srgbClr val="3c3c3c"/>
                </a:solidFill>
                <a:effectLst/>
                <a:uFillTx/>
                <a:latin typeface="Arial"/>
                <a:ea typeface="Times New Roman"/>
              </a:rPr>
              <a:t>Determine as entidades e crie um diagrama entidade-relacionamento (DER).</a:t>
            </a:r>
            <a:r>
              <a:rPr b="0" lang="pt-BR" sz="1800" strike="noStrike" u="none">
                <a:solidFill>
                  <a:srgbClr val="3c3c3c"/>
                </a:solidFill>
                <a:effectLst/>
                <a:uFillTx/>
                <a:latin typeface="Arial"/>
                <a:ea typeface="Times New Roman"/>
              </a:rPr>
              <a:t> </a:t>
            </a:r>
            <a:endParaRPr b="0" lang="pt-BR" sz="1800" strike="noStrike" u="none">
              <a:solidFill>
                <a:srgbClr val="000000"/>
              </a:solidFill>
              <a:effectLst/>
              <a:uFillTx/>
              <a:latin typeface="Arial"/>
            </a:endParaRPr>
          </a:p>
          <a:p>
            <a:pPr algn="just" defTabSz="914400">
              <a:lnSpc>
                <a:spcPct val="100000"/>
              </a:lnSpc>
              <a:tabLst>
                <a:tab algn="l" pos="457200"/>
              </a:tabLst>
            </a:pPr>
            <a:endParaRPr b="0" lang="pt-BR" sz="1800" strike="noStrike" u="none">
              <a:solidFill>
                <a:srgbClr val="000000"/>
              </a:solidFill>
              <a:effectLst/>
              <a:uFillTx/>
              <a:latin typeface="Arial"/>
            </a:endParaRPr>
          </a:p>
          <a:p>
            <a:pPr algn="just" defTabSz="914400">
              <a:lnSpc>
                <a:spcPct val="100000"/>
              </a:lnSpc>
              <a:tabLst>
                <a:tab algn="l" pos="457200"/>
              </a:tabLst>
            </a:pPr>
            <a:endParaRPr b="0" lang="pt-BR" sz="1800" strike="noStrike" u="none">
              <a:solidFill>
                <a:srgbClr val="000000"/>
              </a:solidFill>
              <a:effectLst/>
              <a:uFillTx/>
              <a:latin typeface="Arial"/>
            </a:endParaRPr>
          </a:p>
          <a:p>
            <a:pPr marL="343080" indent="-343080" algn="just" defTabSz="914400">
              <a:lnSpc>
                <a:spcPct val="150000"/>
              </a:lnSpc>
              <a:buClr>
                <a:srgbClr val="3c3c3c"/>
              </a:buClr>
              <a:buFont typeface="Symbol" charset="2"/>
              <a:buChar char=""/>
              <a:tabLst>
                <a:tab algn="l" pos="457200"/>
              </a:tabLst>
            </a:pPr>
            <a:r>
              <a:rPr b="0" lang="pt-BR" sz="1800" strike="noStrike" u="none">
                <a:solidFill>
                  <a:srgbClr val="3c3c3c"/>
                </a:solidFill>
                <a:effectLst/>
                <a:uFillTx/>
                <a:latin typeface="Arial"/>
                <a:ea typeface="Times New Roman"/>
              </a:rPr>
              <a:t>As entidades podem ser descritas como "elementos de dados que interessam a seus negócios". Por exemplo, "cliente" seria uma entidade. "Venda" seria outra. </a:t>
            </a:r>
            <a:endParaRPr b="0" lang="pt-BR" sz="1800" strike="noStrike" u="none">
              <a:solidFill>
                <a:srgbClr val="000000"/>
              </a:solidFill>
              <a:effectLst/>
              <a:uFillTx/>
              <a:latin typeface="Arial"/>
            </a:endParaRPr>
          </a:p>
          <a:p>
            <a:pPr marL="343080" indent="-343080" algn="just" defTabSz="914400">
              <a:lnSpc>
                <a:spcPct val="150000"/>
              </a:lnSpc>
              <a:buClr>
                <a:srgbClr val="3c3c3c"/>
              </a:buClr>
              <a:buFont typeface="Symbol" charset="2"/>
              <a:buChar char=""/>
              <a:tabLst>
                <a:tab algn="l" pos="457200"/>
              </a:tabLst>
            </a:pPr>
            <a:r>
              <a:rPr b="0" lang="pt-BR" sz="1800" strike="noStrike" u="none">
                <a:solidFill>
                  <a:srgbClr val="3c3c3c"/>
                </a:solidFill>
                <a:effectLst/>
                <a:uFillTx/>
                <a:latin typeface="Arial"/>
                <a:ea typeface="Times New Roman"/>
              </a:rPr>
              <a:t>No DER, documenta-se como essas diferentes entidades se relacionam em seu negócio e que conexões de alto nível existem entre elas.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
          <p:cNvSpPr txBox="1"/>
          <p:nvPr/>
        </p:nvSpPr>
        <p:spPr>
          <a:xfrm>
            <a:off x="4653000" y="3459600"/>
            <a:ext cx="3405240" cy="1109520"/>
          </a:xfrm>
          <a:prstGeom prst="rect">
            <a:avLst/>
          </a:prstGeom>
          <a:noFill/>
          <a:ln w="0">
            <a:noFill/>
          </a:ln>
        </p:spPr>
        <p:txBody>
          <a:bodyPr lIns="90000" rIns="90000" tIns="45000" bIns="45000" anchor="t">
            <a:spAutoFit/>
          </a:bodyPr>
          <a:p>
            <a:r>
              <a:rPr b="1" lang="pt-BR" sz="2000" strike="noStrike" u="none">
                <a:solidFill>
                  <a:srgbClr val="000000"/>
                </a:solidFill>
                <a:effectLst/>
                <a:uFillTx/>
                <a:latin typeface="Arial"/>
              </a:rPr>
              <a:t>Relacionamento no DER </a:t>
            </a:r>
            <a:endParaRPr b="1" lang="pt-BR" sz="2000" strike="noStrike" u="none">
              <a:solidFill>
                <a:srgbClr val="000000"/>
              </a:solidFill>
              <a:effectLst/>
              <a:uFillTx/>
              <a:latin typeface="Arial"/>
            </a:endParaRPr>
          </a:p>
        </p:txBody>
      </p:sp>
      <p:pic>
        <p:nvPicPr>
          <p:cNvPr id="111" name="" descr=""/>
          <p:cNvPicPr/>
          <p:nvPr/>
        </p:nvPicPr>
        <p:blipFill>
          <a:blip r:embed="rId1"/>
          <a:stretch/>
        </p:blipFill>
        <p:spPr>
          <a:xfrm>
            <a:off x="3226320" y="4344120"/>
            <a:ext cx="5887800" cy="1042200"/>
          </a:xfrm>
          <a:prstGeom prst="rect">
            <a:avLst/>
          </a:prstGeom>
          <a:noFill/>
          <a:ln w="0">
            <a:noFill/>
          </a:ln>
        </p:spPr>
      </p:pic>
      <p:sp>
        <p:nvSpPr>
          <p:cNvPr id="112" name=""/>
          <p:cNvSpPr txBox="1"/>
          <p:nvPr/>
        </p:nvSpPr>
        <p:spPr>
          <a:xfrm>
            <a:off x="3785400" y="595440"/>
            <a:ext cx="4675320" cy="715320"/>
          </a:xfrm>
          <a:prstGeom prst="rect">
            <a:avLst/>
          </a:prstGeom>
          <a:noFill/>
          <a:ln w="0">
            <a:noFill/>
          </a:ln>
        </p:spPr>
        <p:txBody>
          <a:bodyPr lIns="90000" rIns="90000" tIns="45000" bIns="45000" anchor="t">
            <a:spAutoFit/>
          </a:bodyPr>
          <a:p>
            <a:r>
              <a:rPr b="1" lang="pt-BR" sz="2200" strike="noStrike" u="none">
                <a:solidFill>
                  <a:srgbClr val="000000"/>
                </a:solidFill>
                <a:effectLst/>
                <a:uFillTx/>
                <a:latin typeface="Arial"/>
              </a:rPr>
              <a:t>Relacionamento - conceito </a:t>
            </a:r>
            <a:endParaRPr b="1" lang="pt-BR" sz="2200" strike="noStrike" u="none">
              <a:solidFill>
                <a:srgbClr val="000000"/>
              </a:solidFill>
              <a:effectLst/>
              <a:uFillTx/>
              <a:latin typeface="Arial"/>
            </a:endParaRPr>
          </a:p>
        </p:txBody>
      </p:sp>
      <p:pic>
        <p:nvPicPr>
          <p:cNvPr id="113" name="" descr=""/>
          <p:cNvPicPr/>
          <p:nvPr/>
        </p:nvPicPr>
        <p:blipFill>
          <a:blip r:embed="rId2"/>
          <a:stretch/>
        </p:blipFill>
        <p:spPr>
          <a:xfrm>
            <a:off x="3987720" y="1376280"/>
            <a:ext cx="4096440" cy="165096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CaixaDeTexto 2"/>
          <p:cNvSpPr/>
          <p:nvPr/>
        </p:nvSpPr>
        <p:spPr>
          <a:xfrm>
            <a:off x="2766600" y="914760"/>
            <a:ext cx="6684480" cy="474048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50000"/>
              </a:lnSpc>
              <a:spcBef>
                <a:spcPts val="499"/>
              </a:spcBef>
              <a:buClr>
                <a:srgbClr val="3c3c3c"/>
              </a:buClr>
              <a:buFont typeface="Symbol" charset="2"/>
              <a:buChar char=""/>
              <a:tabLst>
                <a:tab algn="l" pos="457200"/>
              </a:tabLst>
            </a:pPr>
            <a:r>
              <a:rPr b="1" lang="pt-BR" sz="1800" strike="noStrike" u="none">
                <a:solidFill>
                  <a:srgbClr val="3c3c3c"/>
                </a:solidFill>
                <a:effectLst/>
                <a:uFillTx/>
                <a:latin typeface="Arial"/>
                <a:ea typeface="Times New Roman"/>
              </a:rPr>
              <a:t>Crie um link de visão de dados com uma ferramenta gráfica ou consultas SQL.</a:t>
            </a:r>
            <a:r>
              <a:rPr b="0" lang="pt-BR" sz="1800" strike="noStrike" u="none">
                <a:solidFill>
                  <a:srgbClr val="3c3c3c"/>
                </a:solidFill>
                <a:effectLst/>
                <a:uFillTx/>
                <a:latin typeface="Arial"/>
                <a:ea typeface="Times New Roman"/>
              </a:rPr>
              <a:t> </a:t>
            </a:r>
            <a:endParaRPr b="0" lang="pt-BR" sz="1800" strike="noStrike" u="none">
              <a:solidFill>
                <a:srgbClr val="000000"/>
              </a:solidFill>
              <a:effectLst/>
              <a:uFillTx/>
              <a:latin typeface="Arial"/>
            </a:endParaRPr>
          </a:p>
          <a:p>
            <a:pPr defTabSz="914400">
              <a:lnSpc>
                <a:spcPct val="150000"/>
              </a:lnSpc>
              <a:spcBef>
                <a:spcPts val="499"/>
              </a:spcBef>
              <a:tabLst>
                <a:tab algn="l" pos="457200"/>
              </a:tabLst>
            </a:pPr>
            <a:endParaRPr b="0" lang="pt-BR" sz="1800" strike="noStrike" u="none">
              <a:solidFill>
                <a:srgbClr val="000000"/>
              </a:solidFill>
              <a:effectLst/>
              <a:uFillTx/>
              <a:latin typeface="Arial"/>
            </a:endParaRPr>
          </a:p>
          <a:p>
            <a:pPr marL="343080" indent="-343080" algn="just" defTabSz="914400">
              <a:lnSpc>
                <a:spcPct val="150000"/>
              </a:lnSpc>
              <a:spcBef>
                <a:spcPts val="499"/>
              </a:spcBef>
              <a:buClr>
                <a:srgbClr val="3c3c3c"/>
              </a:buClr>
              <a:buFont typeface="Symbol" charset="2"/>
              <a:buChar char=""/>
              <a:tabLst>
                <a:tab algn="l" pos="457200"/>
              </a:tabLst>
            </a:pPr>
            <a:r>
              <a:rPr b="0" lang="pt-BR" sz="1800" strike="noStrike" u="none">
                <a:solidFill>
                  <a:srgbClr val="3c3c3c"/>
                </a:solidFill>
                <a:effectLst/>
                <a:uFillTx/>
                <a:latin typeface="Arial"/>
                <a:ea typeface="Times New Roman"/>
              </a:rPr>
              <a:t>Se não estiver familiarizado com SQL, a ferramenta gráfica é a opção mais intuitiva, que permite arrastar e soltar elementos no modelo e criar conexões visualmente. Quando se cria uma visão, é possível combinar tabelas e até outras visões em uma única saída. Ao selecionar uma fonte na visão gráfica e arrastá-la até outra fonte já associada à saída, há a opção de ligar as duas ou de criar a união dessas tabelas.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CaixaDeTexto 2"/>
          <p:cNvSpPr/>
          <p:nvPr/>
        </p:nvSpPr>
        <p:spPr>
          <a:xfrm>
            <a:off x="1501920" y="789840"/>
            <a:ext cx="7863840" cy="22989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pt-BR" sz="1800" strike="noStrike" u="none">
                <a:solidFill>
                  <a:srgbClr val="253a44"/>
                </a:solidFill>
                <a:effectLst/>
                <a:uFillTx/>
                <a:latin typeface="Montserrat"/>
              </a:rPr>
              <a:t>Modelo Entidade Relacionamento</a:t>
            </a:r>
            <a:endParaRPr b="0" lang="pt-BR" sz="1800" strike="noStrike" u="none">
              <a:solidFill>
                <a:srgbClr val="000000"/>
              </a:solidFill>
              <a:effectLst/>
              <a:uFillTx/>
              <a:latin typeface="Arial"/>
            </a:endParaRPr>
          </a:p>
          <a:p>
            <a:pPr algn="just" defTabSz="914400">
              <a:lnSpc>
                <a:spcPct val="150000"/>
              </a:lnSpc>
            </a:pPr>
            <a:endParaRPr b="0" lang="pt-BR" sz="1800" strike="noStrike" u="none">
              <a:solidFill>
                <a:srgbClr val="000000"/>
              </a:solidFill>
              <a:effectLst/>
              <a:uFillTx/>
              <a:latin typeface="Arial"/>
            </a:endParaRPr>
          </a:p>
          <a:p>
            <a:pPr algn="just" defTabSz="914400">
              <a:lnSpc>
                <a:spcPct val="150000"/>
              </a:lnSpc>
              <a:spcBef>
                <a:spcPts val="1191"/>
              </a:spcBef>
              <a:spcAft>
                <a:spcPts val="992"/>
              </a:spcAft>
            </a:pPr>
            <a:r>
              <a:rPr b="0" lang="pt-BR" sz="1800" strike="noStrike" u="none">
                <a:solidFill>
                  <a:srgbClr val="000000"/>
                </a:solidFill>
                <a:effectLst/>
                <a:uFillTx/>
                <a:latin typeface="Arial"/>
              </a:rPr>
              <a:t>O Modelo Entidade-Relacionamento (MER) descreve </a:t>
            </a:r>
            <a:r>
              <a:rPr b="1" lang="pt-BR" sz="1800" strike="noStrike" u="none">
                <a:solidFill>
                  <a:srgbClr val="000000"/>
                </a:solidFill>
                <a:effectLst/>
                <a:uFillTx/>
                <a:latin typeface="Arial"/>
              </a:rPr>
              <a:t>objetos do mundo real (entidades</a:t>
            </a:r>
            <a:r>
              <a:rPr b="0" lang="pt-BR" sz="1800" strike="noStrike" u="none">
                <a:solidFill>
                  <a:srgbClr val="000000"/>
                </a:solidFill>
                <a:effectLst/>
                <a:uFillTx/>
                <a:latin typeface="Arial"/>
              </a:rPr>
              <a:t>), suas </a:t>
            </a:r>
            <a:r>
              <a:rPr b="1" lang="pt-BR" sz="1800" strike="noStrike" u="none">
                <a:solidFill>
                  <a:srgbClr val="000000"/>
                </a:solidFill>
                <a:effectLst/>
                <a:uFillTx/>
                <a:latin typeface="Arial"/>
              </a:rPr>
              <a:t>características (atributos</a:t>
            </a:r>
            <a:r>
              <a:rPr b="0" lang="pt-BR" sz="1800" strike="noStrike" u="none">
                <a:solidFill>
                  <a:srgbClr val="000000"/>
                </a:solidFill>
                <a:effectLst/>
                <a:uFillTx/>
                <a:latin typeface="Arial"/>
              </a:rPr>
              <a:t>) e como </a:t>
            </a:r>
            <a:r>
              <a:rPr b="1" lang="pt-BR" sz="1800" strike="noStrike" u="none">
                <a:solidFill>
                  <a:srgbClr val="000000"/>
                </a:solidFill>
                <a:effectLst/>
                <a:uFillTx/>
                <a:latin typeface="Arial"/>
              </a:rPr>
              <a:t>interagem (relacionamentos) </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CaixaDeTexto 2"/>
          <p:cNvSpPr/>
          <p:nvPr/>
        </p:nvSpPr>
        <p:spPr>
          <a:xfrm>
            <a:off x="1792440" y="504000"/>
            <a:ext cx="7692840" cy="54586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pt-BR" sz="1800" strike="noStrike" u="none">
                <a:solidFill>
                  <a:srgbClr val="253a44"/>
                </a:solidFill>
                <a:effectLst/>
                <a:uFillTx/>
                <a:latin typeface="Montserrat"/>
              </a:rPr>
              <a:t>Entidades</a:t>
            </a:r>
            <a:endParaRPr b="0" lang="pt-BR" sz="1800" strike="noStrike" u="none">
              <a:solidFill>
                <a:srgbClr val="000000"/>
              </a:solidFill>
              <a:effectLst/>
              <a:uFillTx/>
              <a:latin typeface="Arial"/>
            </a:endParaRPr>
          </a:p>
          <a:p>
            <a:pPr algn="just" defTabSz="914400">
              <a:lnSpc>
                <a:spcPct val="15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253a44"/>
                </a:solidFill>
                <a:effectLst/>
                <a:uFillTx/>
                <a:latin typeface="Source Serif Pro"/>
              </a:rPr>
              <a:t>Os objetos ou partes envolvidas um domínio, também chamados de entidades, podem ser classificados como físicos ou lógicos, de acordo sua existência no mundo real. Entidades físicas: são aquelas realmente tangíveis, existentes e visíveis no mundo real, como um cliente (uma pessoa, uma empresa) ou um produto (um carro, um computador, uma roupa). Já as entidades lógicas são aquelas que existem geralmente em decorrência da interação entre ou com entidades físicas, que fazem sentido dentro de um certo domínio de negócios, mas que no mundo externo/real não são objetos físicos (que ocupam lugar no espaço). São exemplos disso uma venda ou uma classificação de um objeto (modelo, espécie, função de um usuário do sistema).</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CaixaDeTexto 2"/>
          <p:cNvSpPr/>
          <p:nvPr/>
        </p:nvSpPr>
        <p:spPr>
          <a:xfrm>
            <a:off x="2347560" y="629280"/>
            <a:ext cx="7137360" cy="33814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253a44"/>
                </a:solidFill>
                <a:effectLst/>
                <a:uFillTx/>
                <a:latin typeface="Source Serif Pro"/>
              </a:rPr>
              <a:t>As entidades são nomeadas com </a:t>
            </a:r>
            <a:r>
              <a:rPr b="0" lang="pt-BR" sz="1800" strike="noStrike" u="none">
                <a:solidFill>
                  <a:srgbClr val="ff0000"/>
                </a:solidFill>
                <a:effectLst/>
                <a:uFillTx/>
                <a:latin typeface="Source Serif Pro"/>
              </a:rPr>
              <a:t>substantivos</a:t>
            </a:r>
            <a:r>
              <a:rPr b="0" lang="pt-BR" sz="1800" strike="noStrike" u="none">
                <a:solidFill>
                  <a:srgbClr val="253a44"/>
                </a:solidFill>
                <a:effectLst/>
                <a:uFillTx/>
                <a:latin typeface="Source Serif Pro"/>
              </a:rPr>
              <a:t> concretos ou abstratos que representem de forma clara sua função dentro do domínio.  Entidades podem ser pessoas, lugares, organizações, objetos físicos e tangíveis.</a:t>
            </a: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253a44"/>
                </a:solidFill>
                <a:effectLst/>
                <a:uFillTx/>
                <a:latin typeface="Source Serif Pro"/>
              </a:rPr>
              <a:t>Exemplos práticos de entidades comuns em vários sistemas são </a:t>
            </a:r>
            <a:r>
              <a:rPr b="1" lang="pt-BR" sz="1800" strike="noStrike" u="none">
                <a:solidFill>
                  <a:srgbClr val="253a44"/>
                </a:solidFill>
                <a:effectLst/>
                <a:uFillTx/>
                <a:latin typeface="Source Serif Pro"/>
              </a:rPr>
              <a:t>Cliente, Produto, Venda, Turma, Função, entre outros.</a:t>
            </a: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253a44"/>
                </a:solidFill>
                <a:effectLst/>
                <a:uFillTx/>
                <a:latin typeface="Source Serif Pro"/>
              </a:rPr>
              <a:t>Podemos classificar as entidades segundo o motivo de sua existência:</a:t>
            </a:r>
            <a:endParaRPr b="0" lang="pt-BR" sz="1800" strike="noStrike" u="none">
              <a:solidFill>
                <a:srgbClr val="000000"/>
              </a:solidFill>
              <a:effectLst/>
              <a:uFillTx/>
              <a:latin typeface="Arial"/>
            </a:endParaRPr>
          </a:p>
        </p:txBody>
      </p:sp>
      <p:sp>
        <p:nvSpPr>
          <p:cNvPr id="118" name="CaixaDeTexto 3"/>
          <p:cNvSpPr/>
          <p:nvPr/>
        </p:nvSpPr>
        <p:spPr>
          <a:xfrm>
            <a:off x="2432880" y="4011120"/>
            <a:ext cx="7052400" cy="17193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253a44"/>
                </a:solidFill>
                <a:effectLst/>
                <a:uFillTx/>
                <a:latin typeface="Source Serif Pro"/>
              </a:rPr>
              <a:t>As entidades são representadas através de um retângulo com o nome da entidade escrito em seu centro. Conforme figura a seguir, as entidades são classificadas em dois tipos: Entidades Fortes e Entidades Fracas.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CaixaDeTexto 2"/>
          <p:cNvSpPr/>
          <p:nvPr/>
        </p:nvSpPr>
        <p:spPr>
          <a:xfrm>
            <a:off x="1273320" y="306360"/>
            <a:ext cx="7248600" cy="1719360"/>
          </a:xfrm>
          <a:prstGeom prst="rect">
            <a:avLst/>
          </a:prstGeom>
          <a:noFill/>
          <a:ln w="0">
            <a:noFill/>
          </a:ln>
        </p:spPr>
        <p:style>
          <a:lnRef idx="0"/>
          <a:fillRef idx="0"/>
          <a:effectRef idx="0"/>
          <a:fontRef idx="minor"/>
        </p:style>
        <p:txBody>
          <a:bodyPr lIns="90000" rIns="90000" tIns="45000" bIns="45000" anchor="t">
            <a:spAutoFit/>
          </a:bodyPr>
          <a:p>
            <a:pPr indent="-216000" defTabSz="914400">
              <a:lnSpc>
                <a:spcPct val="150000"/>
              </a:lnSpc>
              <a:buClr>
                <a:srgbClr val="253a44"/>
              </a:buClr>
              <a:buFont typeface="Arial"/>
              <a:buChar char="•"/>
            </a:pPr>
            <a:r>
              <a:rPr b="1" lang="pt-BR" sz="1800" strike="noStrike" u="none">
                <a:solidFill>
                  <a:srgbClr val="253a44"/>
                </a:solidFill>
                <a:effectLst/>
                <a:uFillTx/>
                <a:latin typeface="Source Serif Pro"/>
              </a:rPr>
              <a:t>Entidades fortes</a:t>
            </a:r>
            <a:r>
              <a:rPr b="0" lang="pt-BR" sz="1800" strike="noStrike" u="none">
                <a:solidFill>
                  <a:srgbClr val="253a44"/>
                </a:solidFill>
                <a:effectLst/>
                <a:uFillTx/>
                <a:latin typeface="Source Serif Pro"/>
              </a:rPr>
              <a:t>: </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253a44"/>
                </a:solidFill>
                <a:effectLst/>
                <a:uFillTx/>
                <a:latin typeface="Source Serif Pro"/>
              </a:rPr>
              <a:t>São aquelas cuja existência independe de outras entidades, ou seja, por si só elas já possuem total sentido de existir</a:t>
            </a:r>
            <a:endParaRPr b="0" lang="pt-BR" sz="1800" strike="noStrike" u="none">
              <a:solidFill>
                <a:srgbClr val="000000"/>
              </a:solidFill>
              <a:effectLst/>
              <a:uFillTx/>
              <a:latin typeface="Arial"/>
            </a:endParaRPr>
          </a:p>
        </p:txBody>
      </p:sp>
      <p:pic>
        <p:nvPicPr>
          <p:cNvPr id="120" name="Imagem 4" descr=""/>
          <p:cNvPicPr/>
          <p:nvPr/>
        </p:nvPicPr>
        <p:blipFill>
          <a:blip r:embed="rId1"/>
          <a:stretch/>
        </p:blipFill>
        <p:spPr>
          <a:xfrm>
            <a:off x="2615040" y="2404080"/>
            <a:ext cx="4100040" cy="2049840"/>
          </a:xfrm>
          <a:prstGeom prst="rect">
            <a:avLst/>
          </a:prstGeom>
          <a:noFill/>
          <a:ln w="0">
            <a:noFill/>
          </a:ln>
        </p:spPr>
      </p:pic>
      <p:sp>
        <p:nvSpPr>
          <p:cNvPr id="121" name="CaixaDeTexto 6"/>
          <p:cNvSpPr/>
          <p:nvPr/>
        </p:nvSpPr>
        <p:spPr>
          <a:xfrm>
            <a:off x="1529640" y="4648680"/>
            <a:ext cx="6735960" cy="12938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606060"/>
                </a:solidFill>
                <a:effectLst/>
                <a:uFillTx/>
                <a:latin typeface="arial"/>
              </a:rPr>
              <a:t>Podemos tomar como exemplo a entidade “BANCO”, onde a existência da mesma não depende de nenhuma outra entidade para ser identificada.</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CaixaDeTexto 2"/>
          <p:cNvSpPr/>
          <p:nvPr/>
        </p:nvSpPr>
        <p:spPr>
          <a:xfrm>
            <a:off x="1459080" y="537120"/>
            <a:ext cx="7769880" cy="2134800"/>
          </a:xfrm>
          <a:prstGeom prst="rect">
            <a:avLst/>
          </a:prstGeom>
          <a:noFill/>
          <a:ln w="0">
            <a:noFill/>
          </a:ln>
        </p:spPr>
        <p:style>
          <a:lnRef idx="0"/>
          <a:fillRef idx="0"/>
          <a:effectRef idx="0"/>
          <a:fontRef idx="minor"/>
        </p:style>
        <p:txBody>
          <a:bodyPr lIns="90000" rIns="90000" tIns="45000" bIns="45000" anchor="t">
            <a:spAutoFit/>
          </a:bodyPr>
          <a:p>
            <a:pPr indent="-216000" defTabSz="914400">
              <a:lnSpc>
                <a:spcPct val="150000"/>
              </a:lnSpc>
              <a:buClr>
                <a:srgbClr val="253a44"/>
              </a:buClr>
              <a:buFont typeface="Arial"/>
              <a:buChar char="•"/>
            </a:pPr>
            <a:r>
              <a:rPr b="1" lang="pt-BR" sz="1800" strike="noStrike" u="none">
                <a:solidFill>
                  <a:srgbClr val="253a44"/>
                </a:solidFill>
                <a:effectLst/>
                <a:uFillTx/>
                <a:latin typeface="Source Serif Pro"/>
              </a:rPr>
              <a:t>Entidades fracas</a:t>
            </a:r>
            <a:r>
              <a:rPr b="0" lang="pt-BR" sz="1800" strike="noStrike" u="none">
                <a:solidFill>
                  <a:srgbClr val="253a44"/>
                </a:solidFill>
                <a:effectLst/>
                <a:uFillTx/>
                <a:latin typeface="Source Serif Pro"/>
              </a:rPr>
              <a:t>: </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defTabSz="914400">
              <a:lnSpc>
                <a:spcPct val="150000"/>
              </a:lnSpc>
            </a:pPr>
            <a:r>
              <a:rPr b="0" lang="pt-BR" sz="1800" strike="noStrike" u="none">
                <a:solidFill>
                  <a:srgbClr val="253a44"/>
                </a:solidFill>
                <a:effectLst/>
                <a:uFillTx/>
                <a:latin typeface="Source Serif Pro"/>
              </a:rPr>
              <a:t>Ao contrário das entidades fortes, as fracas são aquelas que dependem de outras entidades para existirem, pois individualmente elas não fazem sentido. </a:t>
            </a:r>
            <a:endParaRPr b="0" lang="pt-BR" sz="1800" strike="noStrike" u="none">
              <a:solidFill>
                <a:srgbClr val="000000"/>
              </a:solidFill>
              <a:effectLst/>
              <a:uFillTx/>
              <a:latin typeface="Arial"/>
            </a:endParaRPr>
          </a:p>
        </p:txBody>
      </p:sp>
      <p:sp>
        <p:nvSpPr>
          <p:cNvPr id="123" name="CaixaDeTexto 4"/>
          <p:cNvSpPr/>
          <p:nvPr/>
        </p:nvSpPr>
        <p:spPr>
          <a:xfrm>
            <a:off x="1497600" y="2832480"/>
            <a:ext cx="7692840" cy="29574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253a44"/>
                </a:solidFill>
                <a:effectLst/>
                <a:uFillTx/>
                <a:latin typeface="Source Serif Pro"/>
              </a:rPr>
              <a:t>As entidades fracas possuem dependência de existência e/ou identificação. São sempre ligadas a outras tabelas através de relacionamentos. Podemos tomar como exemplo a entidade “AGENCIA”, onde a existência e identificação da mesma estão vinculadas a outra entidade forte, no caso o “BANCO”.</a:t>
            </a:r>
            <a:endParaRPr b="0" lang="pt-BR" sz="1800" strike="noStrike" u="none">
              <a:solidFill>
                <a:srgbClr val="000000"/>
              </a:solidFill>
              <a:effectLst/>
              <a:uFillTx/>
              <a:latin typeface="Arial"/>
            </a:endParaRPr>
          </a:p>
          <a:p>
            <a:pPr defTabSz="914400">
              <a:lnSpc>
                <a:spcPct val="150000"/>
              </a:lnSpc>
            </a:pPr>
            <a:br>
              <a:rPr sz="1800"/>
            </a:br>
            <a:endParaRPr b="0" lang="pt-BR" sz="1800" strike="noStrike" u="none">
              <a:solidFill>
                <a:srgbClr val="000000"/>
              </a:solidFill>
              <a:effectLst/>
              <a:uFillTx/>
              <a:latin typeface="Arial"/>
            </a:endParaRPr>
          </a:p>
        </p:txBody>
      </p:sp>
      <p:pic>
        <p:nvPicPr>
          <p:cNvPr id="124" name="Imagem 5" descr=""/>
          <p:cNvPicPr/>
          <p:nvPr/>
        </p:nvPicPr>
        <p:blipFill>
          <a:blip r:embed="rId1"/>
          <a:stretch/>
        </p:blipFill>
        <p:spPr>
          <a:xfrm>
            <a:off x="5344200" y="4591800"/>
            <a:ext cx="4100040" cy="204984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CaixaDeTexto 2"/>
          <p:cNvSpPr/>
          <p:nvPr/>
        </p:nvSpPr>
        <p:spPr>
          <a:xfrm>
            <a:off x="2194200" y="619560"/>
            <a:ext cx="6932520" cy="2533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trike="noStrike" u="none">
                <a:solidFill>
                  <a:srgbClr val="3a3091"/>
                </a:solidFill>
                <a:effectLst/>
                <a:uFillTx/>
                <a:latin typeface="inherit"/>
              </a:rPr>
              <a:t>2 – Relacionamentos</a:t>
            </a:r>
            <a:endParaRPr b="0" lang="pt-BR" sz="1800" strike="noStrike" u="none">
              <a:solidFill>
                <a:srgbClr val="000000"/>
              </a:solidFill>
              <a:effectLst/>
              <a:uFillTx/>
              <a:latin typeface="Arial"/>
            </a:endParaRPr>
          </a:p>
          <a:p>
            <a:pPr defTabSz="914400">
              <a:lnSpc>
                <a:spcPct val="100000"/>
              </a:lnSpc>
            </a:pPr>
            <a:endParaRPr b="0" lang="pt-BR" sz="1800" strike="noStrike" u="none">
              <a:solidFill>
                <a:srgbClr val="000000"/>
              </a:solidFill>
              <a:effectLst/>
              <a:uFillTx/>
              <a:latin typeface="Arial"/>
            </a:endParaRPr>
          </a:p>
          <a:p>
            <a:pPr defTabSz="914400">
              <a:lnSpc>
                <a:spcPct val="100000"/>
              </a:lnSpc>
            </a:pPr>
            <a:endParaRPr b="0" lang="pt-BR" sz="1800" strike="noStrike" u="none">
              <a:solidFill>
                <a:srgbClr val="000000"/>
              </a:solidFill>
              <a:effectLst/>
              <a:uFillTx/>
              <a:latin typeface="Arial"/>
            </a:endParaRPr>
          </a:p>
          <a:p>
            <a:pPr defTabSz="914400">
              <a:lnSpc>
                <a:spcPct val="150000"/>
              </a:lnSpc>
            </a:pPr>
            <a:r>
              <a:rPr b="0" lang="pt-BR" sz="1800" strike="noStrike" u="none">
                <a:solidFill>
                  <a:srgbClr val="606060"/>
                </a:solidFill>
                <a:effectLst/>
                <a:uFillTx/>
                <a:latin typeface="arial"/>
              </a:rPr>
              <a:t>Relacionamentos são associações entre entidades com um significado específico dentro do mundo real. Os objetos do mundo real não ocorrem de forma isolada, eles se associam ou se vinculam.</a:t>
            </a:r>
            <a:endParaRPr b="0" lang="pt-BR" sz="1800" strike="noStrike" u="none">
              <a:solidFill>
                <a:srgbClr val="000000"/>
              </a:solidFill>
              <a:effectLst/>
              <a:uFillTx/>
              <a:latin typeface="Arial"/>
            </a:endParaRPr>
          </a:p>
        </p:txBody>
      </p:sp>
      <p:sp>
        <p:nvSpPr>
          <p:cNvPr id="126" name="CaixaDeTexto 4"/>
          <p:cNvSpPr/>
          <p:nvPr/>
        </p:nvSpPr>
        <p:spPr>
          <a:xfrm>
            <a:off x="2253960" y="3153600"/>
            <a:ext cx="7325640" cy="33728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606060"/>
                </a:solidFill>
                <a:effectLst/>
                <a:uFillTx/>
                <a:latin typeface="arial"/>
              </a:rPr>
              <a:t>A figura de um relacionamento é representada através de um losango, tal como as entidades os relacionamentos são classificados em fortes ou fracos. Tal como as entidades, os relacionamentos também possuem nome e devem expressar o real significado dentro do contexto modelado. A figura a seguir mostra como os relacionamentos são representados em um modelo conceitual de dados.</a:t>
            </a:r>
            <a:endParaRPr b="0" lang="pt-BR" sz="1800" strike="noStrike" u="none">
              <a:solidFill>
                <a:srgbClr val="000000"/>
              </a:solidFill>
              <a:effectLst/>
              <a:uFillTx/>
              <a:latin typeface="Arial"/>
            </a:endParaRPr>
          </a:p>
          <a:p>
            <a:pPr defTabSz="914400">
              <a:lnSpc>
                <a:spcPct val="150000"/>
              </a:lnSpc>
            </a:pPr>
            <a:br>
              <a:rPr sz="1800"/>
            </a:b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7" name="Imagem 2" descr=""/>
          <p:cNvPicPr/>
          <p:nvPr/>
        </p:nvPicPr>
        <p:blipFill>
          <a:blip r:embed="rId1"/>
          <a:stretch/>
        </p:blipFill>
        <p:spPr>
          <a:xfrm>
            <a:off x="2792160" y="151920"/>
            <a:ext cx="4896000" cy="3136680"/>
          </a:xfrm>
          <a:prstGeom prst="rect">
            <a:avLst/>
          </a:prstGeom>
          <a:noFill/>
          <a:ln w="0">
            <a:noFill/>
          </a:ln>
        </p:spPr>
      </p:pic>
      <p:sp>
        <p:nvSpPr>
          <p:cNvPr id="128" name="CaixaDeTexto 3"/>
          <p:cNvSpPr/>
          <p:nvPr/>
        </p:nvSpPr>
        <p:spPr>
          <a:xfrm>
            <a:off x="1698120" y="3444480"/>
            <a:ext cx="7804080" cy="378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606060"/>
                </a:solidFill>
                <a:effectLst/>
                <a:uFillTx/>
                <a:latin typeface="arial"/>
              </a:rPr>
              <a:t>Na figura acima DEPENDENTE é uma entidade fraca em relação ao EMPREGADO, sempre que esta relação existir de forma fraca, o relacionamento também será fraco, por esta razão o losango desta relação está representado com uma linha dupla. Já na relação entre EMPREGADO e CARGO não há dependência de existência ou identificação, pois um CARGO não depende de um EMPREGADO para existir e ser identificado e vice-versa.</a:t>
            </a:r>
            <a:endParaRPr b="0" lang="pt-BR" sz="1800" strike="noStrike" u="none">
              <a:solidFill>
                <a:srgbClr val="000000"/>
              </a:solidFill>
              <a:effectLst/>
              <a:uFillTx/>
              <a:latin typeface="Arial"/>
            </a:endParaRPr>
          </a:p>
          <a:p>
            <a:pPr defTabSz="914400">
              <a:lnSpc>
                <a:spcPct val="150000"/>
              </a:lnSpc>
            </a:pPr>
            <a:br>
              <a:rPr sz="1800"/>
            </a:b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CaixaDeTexto 2"/>
          <p:cNvSpPr/>
          <p:nvPr/>
        </p:nvSpPr>
        <p:spPr>
          <a:xfrm>
            <a:off x="1972080" y="504720"/>
            <a:ext cx="6804360" cy="170928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0" lang="pt-BR" sz="1800" strike="noStrike" u="none">
                <a:solidFill>
                  <a:srgbClr val="606060"/>
                </a:solidFill>
                <a:effectLst/>
                <a:uFillTx/>
                <a:latin typeface="arial"/>
              </a:rPr>
              <a:t>Quando tratamos de relacionamentos, devemos ter em mente três conceitos importantes que influenciam diretamente na modelagem e entendimento de um modelo conceitual. Os conceitos são o </a:t>
            </a:r>
            <a:r>
              <a:rPr b="1" lang="pt-BR" sz="1800" strike="noStrike" u="none">
                <a:solidFill>
                  <a:srgbClr val="ff0000"/>
                </a:solidFill>
                <a:effectLst/>
                <a:uFillTx/>
                <a:latin typeface="arial"/>
              </a:rPr>
              <a:t>grau</a:t>
            </a:r>
            <a:r>
              <a:rPr b="0" lang="pt-BR" sz="1800" strike="noStrike" u="none">
                <a:solidFill>
                  <a:srgbClr val="606060"/>
                </a:solidFill>
                <a:effectLst/>
                <a:uFillTx/>
                <a:latin typeface="arial"/>
              </a:rPr>
              <a:t>, </a:t>
            </a:r>
            <a:r>
              <a:rPr b="1" lang="pt-BR" sz="1800" strike="noStrike" u="none">
                <a:solidFill>
                  <a:srgbClr val="ff0000"/>
                </a:solidFill>
                <a:effectLst/>
                <a:uFillTx/>
                <a:latin typeface="arial"/>
              </a:rPr>
              <a:t>cardinalidade</a:t>
            </a:r>
            <a:r>
              <a:rPr b="0" lang="pt-BR" sz="1800" strike="noStrike" u="none">
                <a:solidFill>
                  <a:srgbClr val="606060"/>
                </a:solidFill>
                <a:effectLst/>
                <a:uFillTx/>
                <a:latin typeface="arial"/>
              </a:rPr>
              <a:t> e </a:t>
            </a:r>
            <a:r>
              <a:rPr b="1" lang="pt-BR" sz="1800" strike="noStrike" u="none">
                <a:solidFill>
                  <a:srgbClr val="ff0000"/>
                </a:solidFill>
                <a:effectLst/>
                <a:uFillTx/>
                <a:latin typeface="arial"/>
              </a:rPr>
              <a:t>tipo do relacionamento</a:t>
            </a:r>
            <a:r>
              <a:rPr b="0" lang="pt-BR" sz="1800" strike="noStrike" u="none">
                <a:solidFill>
                  <a:srgbClr val="606060"/>
                </a:solidFill>
                <a:effectLst/>
                <a:uFillTx/>
                <a:latin typeface="arial"/>
              </a:rPr>
              <a:t>.</a:t>
            </a:r>
            <a:endParaRPr b="0" lang="pt-BR" sz="1800" strike="noStrike" u="none">
              <a:solidFill>
                <a:srgbClr val="000000"/>
              </a:solidFill>
              <a:effectLst/>
              <a:uFillTx/>
              <a:latin typeface="Arial"/>
            </a:endParaRPr>
          </a:p>
        </p:txBody>
      </p:sp>
      <p:sp>
        <p:nvSpPr>
          <p:cNvPr id="130" name="CaixaDeTexto 4"/>
          <p:cNvSpPr/>
          <p:nvPr/>
        </p:nvSpPr>
        <p:spPr>
          <a:xfrm>
            <a:off x="1972080" y="2276640"/>
            <a:ext cx="6096960" cy="2307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trike="noStrike" u="none">
                <a:solidFill>
                  <a:srgbClr val="3a3091"/>
                </a:solidFill>
                <a:effectLst/>
                <a:uFillTx/>
                <a:latin typeface="inherit"/>
              </a:rPr>
              <a:t>Grau dos Relacionamentos</a:t>
            </a:r>
            <a:endParaRPr b="0" lang="pt-BR" sz="1800" strike="noStrike" u="none">
              <a:solidFill>
                <a:srgbClr val="000000"/>
              </a:solidFill>
              <a:effectLst/>
              <a:uFillTx/>
              <a:latin typeface="Arial"/>
            </a:endParaRPr>
          </a:p>
          <a:p>
            <a:pPr algn="just" defTabSz="914400">
              <a:lnSpc>
                <a:spcPct val="100000"/>
              </a:lnSpc>
            </a:pPr>
            <a:br>
              <a:rPr sz="1800"/>
            </a:br>
            <a:endParaRPr b="0" lang="pt-BR" sz="1800" strike="noStrike" u="none">
              <a:solidFill>
                <a:srgbClr val="000000"/>
              </a:solidFill>
              <a:effectLst/>
              <a:uFillTx/>
              <a:latin typeface="Arial"/>
            </a:endParaRPr>
          </a:p>
          <a:p>
            <a:pPr algn="just" defTabSz="914400">
              <a:lnSpc>
                <a:spcPct val="100000"/>
              </a:lnSpc>
            </a:pPr>
            <a:r>
              <a:rPr b="1" lang="pt-BR" sz="1800" strike="noStrike" u="none">
                <a:solidFill>
                  <a:srgbClr val="606060"/>
                </a:solidFill>
                <a:effectLst/>
                <a:uFillTx/>
                <a:latin typeface="var(--ricos-custom-h6-font-family,unset)"/>
              </a:rPr>
              <a:t>O grau de um relacionamento corresponde ao número de entidades envolvidas na mesma relação. O grau de um relacionamento pode ser:</a:t>
            </a:r>
            <a:endParaRPr b="0" lang="pt-BR" sz="1800" strike="noStrike" u="none">
              <a:solidFill>
                <a:srgbClr val="000000"/>
              </a:solidFill>
              <a:effectLst/>
              <a:uFillTx/>
              <a:latin typeface="Arial"/>
            </a:endParaRPr>
          </a:p>
          <a:p>
            <a:pPr defTabSz="914400">
              <a:lnSpc>
                <a:spcPct val="100000"/>
              </a:lnSpc>
            </a:pPr>
            <a:br>
              <a:rPr sz="1800"/>
            </a:b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aixaDeTexto 2"/>
          <p:cNvSpPr/>
          <p:nvPr/>
        </p:nvSpPr>
        <p:spPr>
          <a:xfrm>
            <a:off x="1485000" y="299160"/>
            <a:ext cx="9120240" cy="25401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pt-BR" sz="1800" strike="noStrike" u="none">
                <a:solidFill>
                  <a:srgbClr val="606060"/>
                </a:solidFill>
                <a:effectLst/>
                <a:uFillTx/>
                <a:latin typeface="inherit"/>
              </a:rPr>
              <a:t>Binário: </a:t>
            </a:r>
            <a:r>
              <a:rPr b="0" lang="pt-BR" sz="1800" strike="noStrike" u="none">
                <a:solidFill>
                  <a:srgbClr val="606060"/>
                </a:solidFill>
                <a:effectLst/>
                <a:uFillTx/>
                <a:latin typeface="arial"/>
              </a:rPr>
              <a:t>Onde duas entidades participam de um relacionamento. Este é o grau utilizado na maioria dos relacionamentos.</a:t>
            </a:r>
            <a:endParaRPr b="0" lang="pt-BR" sz="1800" strike="noStrike" u="none">
              <a:solidFill>
                <a:srgbClr val="000000"/>
              </a:solidFill>
              <a:effectLst/>
              <a:uFillTx/>
              <a:latin typeface="Arial"/>
            </a:endParaRPr>
          </a:p>
          <a:p>
            <a:pPr algn="just" defTabSz="914400">
              <a:lnSpc>
                <a:spcPct val="150000"/>
              </a:lnSpc>
            </a:pPr>
            <a:r>
              <a:rPr b="1" lang="pt-BR" sz="1800" strike="noStrike" u="none">
                <a:solidFill>
                  <a:srgbClr val="606060"/>
                </a:solidFill>
                <a:effectLst/>
                <a:uFillTx/>
                <a:latin typeface="inherit"/>
              </a:rPr>
              <a:t>Ternário: </a:t>
            </a:r>
            <a:r>
              <a:rPr b="0" lang="pt-BR" sz="1800" strike="noStrike" u="none">
                <a:solidFill>
                  <a:srgbClr val="606060"/>
                </a:solidFill>
                <a:effectLst/>
                <a:uFillTx/>
                <a:latin typeface="arial"/>
              </a:rPr>
              <a:t>Onde três entidades participam de um relacionamento. Não muito usado e aplicabilidade de relacionamentos com grau maior que dois (ternários e n-ários) em modelos de dados. </a:t>
            </a:r>
            <a:endParaRPr b="0" lang="pt-BR" sz="1800" strike="noStrike" u="none">
              <a:solidFill>
                <a:srgbClr val="000000"/>
              </a:solidFill>
              <a:effectLst/>
              <a:uFillTx/>
              <a:latin typeface="Arial"/>
            </a:endParaRPr>
          </a:p>
          <a:p>
            <a:pPr algn="just" defTabSz="914400">
              <a:lnSpc>
                <a:spcPct val="150000"/>
              </a:lnSpc>
            </a:pPr>
            <a:r>
              <a:rPr b="1" lang="pt-BR" sz="1800" strike="noStrike" u="none">
                <a:solidFill>
                  <a:srgbClr val="606060"/>
                </a:solidFill>
                <a:effectLst/>
                <a:uFillTx/>
                <a:latin typeface="inherit"/>
              </a:rPr>
              <a:t>N-ário: </a:t>
            </a:r>
            <a:r>
              <a:rPr b="0" lang="pt-BR" sz="1800" strike="noStrike" u="none">
                <a:solidFill>
                  <a:srgbClr val="606060"/>
                </a:solidFill>
                <a:effectLst/>
                <a:uFillTx/>
                <a:latin typeface="arial"/>
              </a:rPr>
              <a:t>Onde quatro ou mais entidades participam de um relacionamento.</a:t>
            </a:r>
            <a:endParaRPr b="0" lang="pt-BR" sz="1800" strike="noStrike" u="none">
              <a:solidFill>
                <a:srgbClr val="000000"/>
              </a:solidFill>
              <a:effectLst/>
              <a:uFillTx/>
              <a:latin typeface="Arial"/>
            </a:endParaRPr>
          </a:p>
        </p:txBody>
      </p:sp>
      <p:pic>
        <p:nvPicPr>
          <p:cNvPr id="132" name="Imagem 4" descr=""/>
          <p:cNvPicPr/>
          <p:nvPr/>
        </p:nvPicPr>
        <p:blipFill>
          <a:blip r:embed="rId1"/>
          <a:stretch/>
        </p:blipFill>
        <p:spPr>
          <a:xfrm>
            <a:off x="2159640" y="2884320"/>
            <a:ext cx="6898680" cy="380412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CaixaDeTexto 2"/>
          <p:cNvSpPr/>
          <p:nvPr/>
        </p:nvSpPr>
        <p:spPr>
          <a:xfrm>
            <a:off x="1083240" y="794520"/>
            <a:ext cx="9632880" cy="544212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1" lang="pt-BR" sz="1800" strike="noStrike" u="none">
                <a:solidFill>
                  <a:srgbClr val="3a3091"/>
                </a:solidFill>
                <a:effectLst/>
                <a:uFillTx/>
                <a:latin typeface="inherit"/>
              </a:rPr>
              <a:t>Cardinalidade</a:t>
            </a:r>
            <a:endParaRPr b="0" lang="pt-BR" sz="1800" strike="noStrike" u="none">
              <a:solidFill>
                <a:srgbClr val="000000"/>
              </a:solidFill>
              <a:effectLst/>
              <a:uFillTx/>
              <a:latin typeface="Arial"/>
            </a:endParaRPr>
          </a:p>
          <a:p>
            <a:pPr algn="just" defTabSz="914400">
              <a:lnSpc>
                <a:spcPct val="15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606060"/>
                </a:solidFill>
                <a:effectLst/>
                <a:uFillTx/>
                <a:latin typeface="arial"/>
              </a:rPr>
              <a:t>A cardinalidade representa a</a:t>
            </a:r>
            <a:r>
              <a:rPr b="0" lang="pt-BR" sz="1800" strike="noStrike" u="none">
                <a:solidFill>
                  <a:srgbClr val="ff0000"/>
                </a:solidFill>
                <a:effectLst/>
                <a:uFillTx/>
                <a:latin typeface="arial"/>
              </a:rPr>
              <a:t> quantidade de vezes </a:t>
            </a:r>
            <a:r>
              <a:rPr b="0" lang="pt-BR" sz="1800" strike="noStrike" u="none">
                <a:solidFill>
                  <a:srgbClr val="606060"/>
                </a:solidFill>
                <a:effectLst/>
                <a:uFillTx/>
                <a:latin typeface="arial"/>
              </a:rPr>
              <a:t>que um elemento de um conjunto de entidades pode, em um determinado instante, estar associado em um dado relacionamento, a outros elementos de outras entidades.</a:t>
            </a:r>
            <a:endParaRPr b="0" lang="pt-BR" sz="1800" strike="noStrike" u="none">
              <a:solidFill>
                <a:srgbClr val="000000"/>
              </a:solidFill>
              <a:effectLst/>
              <a:uFillTx/>
              <a:latin typeface="Arial"/>
            </a:endParaRPr>
          </a:p>
          <a:p>
            <a:pPr algn="just" defTabSz="914400">
              <a:lnSpc>
                <a:spcPct val="15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606060"/>
                </a:solidFill>
                <a:effectLst/>
                <a:uFillTx/>
                <a:latin typeface="arial"/>
              </a:rPr>
              <a:t>A cardinalidade de uma relação é definida em cada um dos sentidos do relacionamento por um conjunto (x,y) onde x representa a cardinalidade mínima e y representa a cardinalidade máxima.</a:t>
            </a:r>
            <a:endParaRPr b="0" lang="pt-BR" sz="1800" strike="noStrike" u="none">
              <a:solidFill>
                <a:srgbClr val="000000"/>
              </a:solidFill>
              <a:effectLst/>
              <a:uFillTx/>
              <a:latin typeface="Arial"/>
            </a:endParaRPr>
          </a:p>
          <a:p>
            <a:pPr algn="just" defTabSz="914400">
              <a:lnSpc>
                <a:spcPct val="150000"/>
              </a:lnSpc>
            </a:pPr>
            <a:endParaRPr b="0" lang="pt-BR" sz="1800" strike="noStrike" u="none">
              <a:solidFill>
                <a:srgbClr val="000000"/>
              </a:solidFill>
              <a:effectLst/>
              <a:uFillTx/>
              <a:latin typeface="Arial"/>
            </a:endParaRPr>
          </a:p>
          <a:p>
            <a:pPr algn="just" defTabSz="914400">
              <a:lnSpc>
                <a:spcPct val="150000"/>
              </a:lnSpc>
            </a:pPr>
            <a:r>
              <a:rPr b="0" lang="pt-BR" sz="1800" strike="noStrike" u="none">
                <a:solidFill>
                  <a:srgbClr val="606060"/>
                </a:solidFill>
                <a:effectLst/>
                <a:uFillTx/>
                <a:latin typeface="arial"/>
              </a:rPr>
              <a:t>A cardinalidade mínima é responsável por orientar a obrigatoriedade (opcionalidade) do relacionamento. Já a cardinalidade máxima é responsável por definir a quantidade máxima de vezes que um elemento pode estar associado no relacionamento.</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CaixaDeTexto 2"/>
          <p:cNvSpPr/>
          <p:nvPr/>
        </p:nvSpPr>
        <p:spPr>
          <a:xfrm>
            <a:off x="1581120" y="367920"/>
            <a:ext cx="8306280" cy="17110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606060"/>
                </a:solidFill>
                <a:effectLst/>
                <a:uFillTx/>
                <a:latin typeface="arial"/>
              </a:rPr>
              <a:t>A figura a seguir mostra um exemplo de uso das cardinalidades em um relacionamento dentro de um modelo conceitual de dados.</a:t>
            </a:r>
            <a:endParaRPr b="0" lang="pt-BR" sz="1800" strike="noStrike" u="none">
              <a:solidFill>
                <a:srgbClr val="000000"/>
              </a:solidFill>
              <a:effectLst/>
              <a:uFillTx/>
              <a:latin typeface="Arial"/>
            </a:endParaRPr>
          </a:p>
          <a:p>
            <a:pPr defTabSz="914400">
              <a:lnSpc>
                <a:spcPct val="150000"/>
              </a:lnSpc>
            </a:pPr>
            <a:br>
              <a:rPr sz="1800"/>
            </a:br>
            <a:endParaRPr b="0" lang="pt-BR" sz="1800" strike="noStrike" u="none">
              <a:solidFill>
                <a:srgbClr val="000000"/>
              </a:solidFill>
              <a:effectLst/>
              <a:uFillTx/>
              <a:latin typeface="Arial"/>
            </a:endParaRPr>
          </a:p>
        </p:txBody>
      </p:sp>
      <p:pic>
        <p:nvPicPr>
          <p:cNvPr id="135" name="Imagem 4" descr=""/>
          <p:cNvPicPr/>
          <p:nvPr/>
        </p:nvPicPr>
        <p:blipFill>
          <a:blip r:embed="rId1"/>
          <a:stretch/>
        </p:blipFill>
        <p:spPr>
          <a:xfrm>
            <a:off x="2182320" y="1223640"/>
            <a:ext cx="6814080" cy="2662920"/>
          </a:xfrm>
          <a:prstGeom prst="rect">
            <a:avLst/>
          </a:prstGeom>
          <a:noFill/>
          <a:ln w="0">
            <a:noFill/>
          </a:ln>
        </p:spPr>
      </p:pic>
      <p:sp>
        <p:nvSpPr>
          <p:cNvPr id="136" name="CaixaDeTexto 6"/>
          <p:cNvSpPr/>
          <p:nvPr/>
        </p:nvSpPr>
        <p:spPr>
          <a:xfrm>
            <a:off x="1728720" y="4044240"/>
            <a:ext cx="8457480" cy="29574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pt-BR" sz="1800" strike="noStrike" u="none">
                <a:solidFill>
                  <a:srgbClr val="606060"/>
                </a:solidFill>
                <a:effectLst/>
                <a:uFillTx/>
                <a:latin typeface="arial"/>
              </a:rPr>
              <a:t>No exemplo acima, um EMPREGADO trabalha em uma e somente uma EMPRESA e, em uma EMPRESA trabalham nenhum ou vários EMPREGADOS. Ou seja, dentro do contexto que foi modelado, é impossível existir um EMPREGADO sem uma EMPRESA associada, porém é totalmente viável criar uma EMPRESA e não associar inicialmente algum EMPREGADO.</a:t>
            </a:r>
            <a:endParaRPr b="0" lang="pt-BR" sz="1800" strike="noStrike" u="none">
              <a:solidFill>
                <a:srgbClr val="000000"/>
              </a:solidFill>
              <a:effectLst/>
              <a:uFillTx/>
              <a:latin typeface="Arial"/>
            </a:endParaRPr>
          </a:p>
          <a:p>
            <a:pPr defTabSz="914400">
              <a:lnSpc>
                <a:spcPct val="150000"/>
              </a:lnSpc>
            </a:pPr>
            <a:br>
              <a:rPr sz="1800"/>
            </a:b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CaixaDeTexto 2"/>
          <p:cNvSpPr/>
          <p:nvPr/>
        </p:nvSpPr>
        <p:spPr>
          <a:xfrm>
            <a:off x="878040" y="152280"/>
            <a:ext cx="10273680" cy="670536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0" lang="pt-BR" sz="1800" strike="noStrike" u="none">
                <a:solidFill>
                  <a:srgbClr val="253a44"/>
                </a:solidFill>
                <a:effectLst/>
                <a:uFillTx/>
                <a:latin typeface="Source Serif Pro"/>
              </a:rPr>
              <a:t>CARDINALIDADE dos relacionamentos. Vejamos as possibilidades:</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1" lang="pt-BR" sz="1800" strike="noStrike" u="none">
                <a:solidFill>
                  <a:srgbClr val="253a44"/>
                </a:solidFill>
                <a:effectLst/>
                <a:uFillTx/>
                <a:latin typeface="Source Serif Pro"/>
              </a:rPr>
              <a:t>Relacionamento Um-Para-Um (1:1)</a:t>
            </a:r>
            <a:r>
              <a:rPr b="0" lang="pt-BR" sz="1800" strike="noStrike" u="none">
                <a:solidFill>
                  <a:srgbClr val="253a44"/>
                </a:solidFill>
                <a:effectLst/>
                <a:uFillTx/>
                <a:latin typeface="Source Serif Pro"/>
              </a:rPr>
              <a:t> - Uma instância da entidade A relaciona-se a uma instância da entidade B</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1" lang="pt-BR" sz="1800" strike="noStrike" u="none">
                <a:solidFill>
                  <a:srgbClr val="253a44"/>
                </a:solidFill>
                <a:effectLst/>
                <a:uFillTx/>
                <a:latin typeface="Source Serif Pro"/>
              </a:rPr>
              <a:t>Relacionamento Um-Para-Vários (1:N)</a:t>
            </a:r>
            <a:r>
              <a:rPr b="0" lang="pt-BR" sz="1800" strike="noStrike" u="none">
                <a:solidFill>
                  <a:srgbClr val="253a44"/>
                </a:solidFill>
                <a:effectLst/>
                <a:uFillTx/>
                <a:latin typeface="Source Serif Pro"/>
              </a:rPr>
              <a:t> - Uma instância da entidade A relaciona-se a várias instâncias da entidade B</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1" lang="pt-BR" sz="1800" strike="noStrike" u="none">
                <a:solidFill>
                  <a:srgbClr val="253a44"/>
                </a:solidFill>
                <a:effectLst/>
                <a:uFillTx/>
                <a:latin typeface="Source Serif Pro"/>
              </a:rPr>
              <a:t>Relacionamento Vários-Para-vários (N:M)</a:t>
            </a:r>
            <a:r>
              <a:rPr b="0" lang="pt-BR" sz="1800" strike="noStrike" u="none">
                <a:solidFill>
                  <a:srgbClr val="253a44"/>
                </a:solidFill>
                <a:effectLst/>
                <a:uFillTx/>
                <a:latin typeface="Source Serif Pro"/>
              </a:rPr>
              <a:t> - Várias instâncias da entidade A relacionam-se a várias instâncias da entidade B</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defTabSz="914400">
              <a:lnSpc>
                <a:spcPct val="150000"/>
              </a:lnSpc>
            </a:pPr>
            <a:r>
              <a:rPr b="0" lang="pt-BR" sz="1800" strike="noStrike" u="none">
                <a:solidFill>
                  <a:srgbClr val="253a44"/>
                </a:solidFill>
                <a:effectLst/>
                <a:uFillTx/>
                <a:latin typeface="Source Serif Pro"/>
              </a:rPr>
              <a:t>Estas 3 cardinalidades apresentadas acima são implicitamente, CARDINALIDADES MÁXIMAS, mas pode-se determinar a CARDINALIDADE MÍNIMA, que pode ser descrita desta forma:</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1" lang="pt-BR" sz="1800" strike="noStrike" u="none">
                <a:solidFill>
                  <a:srgbClr val="253a44"/>
                </a:solidFill>
                <a:effectLst/>
                <a:uFillTx/>
                <a:latin typeface="Source Serif Pro"/>
              </a:rPr>
              <a:t>Relacionamento Um-Para-Vários (0,1:1,N)</a:t>
            </a:r>
            <a:r>
              <a:rPr b="0" lang="pt-BR" sz="1800" strike="noStrike" u="none">
                <a:solidFill>
                  <a:srgbClr val="253a44"/>
                </a:solidFill>
                <a:effectLst/>
                <a:uFillTx/>
                <a:latin typeface="Source Serif Pro"/>
              </a:rPr>
              <a:t> -Nenhuma ou uma instância da entidade A relaciona-se á uma ou várias instancias da entidade B.</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aixaDeTexto 2"/>
          <p:cNvSpPr/>
          <p:nvPr/>
        </p:nvSpPr>
        <p:spPr>
          <a:xfrm>
            <a:off x="1732680" y="1596600"/>
            <a:ext cx="8094600" cy="421236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0" lang="pt-BR" sz="1800" strike="noStrike" u="none">
                <a:solidFill>
                  <a:srgbClr val="253a44"/>
                </a:solidFill>
                <a:effectLst/>
                <a:uFillTx/>
                <a:latin typeface="Source Serif Pro"/>
              </a:rPr>
              <a:t>Um-Para-Vários com cardinalidade mínima:</a:t>
            </a:r>
            <a:endParaRPr b="0" lang="pt-BR" sz="1800" strike="noStrike" u="none">
              <a:solidFill>
                <a:srgbClr val="000000"/>
              </a:solidFill>
              <a:effectLst/>
              <a:uFillTx/>
              <a:latin typeface="Arial"/>
            </a:endParaRPr>
          </a:p>
          <a:p>
            <a:pPr defTabSz="914400">
              <a:lnSpc>
                <a:spcPct val="150000"/>
              </a:lnSpc>
            </a:pPr>
            <a:r>
              <a:rPr b="0" lang="pt-BR" sz="1800" strike="noStrike" u="none">
                <a:solidFill>
                  <a:srgbClr val="253a44"/>
                </a:solidFill>
                <a:effectLst/>
                <a:uFillTx/>
                <a:latin typeface="Source Serif Pro"/>
              </a:rPr>
              <a:t>Usuario - Emprestimo (1,1:0,N)</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0" lang="pt-BR" sz="1800" strike="noStrike" u="none">
                <a:solidFill>
                  <a:srgbClr val="253a44"/>
                </a:solidFill>
                <a:effectLst/>
                <a:uFillTx/>
                <a:latin typeface="Source Serif Pro"/>
              </a:rPr>
              <a:t>Um usuário pode estar relacionado a nenhum ou a vários empréstimos.</a:t>
            </a: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0" lang="pt-BR" sz="1800" strike="noStrike" u="none">
                <a:solidFill>
                  <a:srgbClr val="253a44"/>
                </a:solidFill>
                <a:effectLst/>
                <a:uFillTx/>
                <a:latin typeface="Source Serif Pro"/>
              </a:rPr>
              <a:t>Um empréstimo deve estar relacionado a somente um usuário.</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defTabSz="914400">
              <a:lnSpc>
                <a:spcPct val="150000"/>
              </a:lnSpc>
            </a:pPr>
            <a:r>
              <a:rPr b="1" lang="pt-BR" sz="1800" strike="noStrike" u="none">
                <a:solidFill>
                  <a:srgbClr val="253a44"/>
                </a:solidFill>
                <a:effectLst/>
                <a:uFillTx/>
                <a:latin typeface="Source Serif Pro"/>
              </a:rPr>
              <a:t>Conclusão</a:t>
            </a:r>
            <a:r>
              <a:rPr b="0" lang="pt-BR" sz="1800" strike="noStrike" u="none">
                <a:solidFill>
                  <a:srgbClr val="253a44"/>
                </a:solidFill>
                <a:effectLst/>
                <a:uFillTx/>
                <a:latin typeface="Source Serif Pro"/>
              </a:rPr>
              <a:t>: Pode ser que um usuário nunca faça empréstimos, assim como pode haver usuário que faça vários emprestimos, porém um empréstimo obrigatoriamente tem que ser feito por um único usuário. Exemplo de relacionamento </a:t>
            </a:r>
            <a:endParaRPr b="0" lang="pt-BR" sz="1800" strike="noStrike" u="none">
              <a:solidFill>
                <a:srgbClr val="000000"/>
              </a:solidFill>
              <a:effectLst/>
              <a:uFillTx/>
              <a:latin typeface="Arial"/>
            </a:endParaRPr>
          </a:p>
        </p:txBody>
      </p:sp>
      <p:sp>
        <p:nvSpPr>
          <p:cNvPr id="139" name="CaixaDeTexto 4"/>
          <p:cNvSpPr/>
          <p:nvPr/>
        </p:nvSpPr>
        <p:spPr>
          <a:xfrm>
            <a:off x="1732680" y="565560"/>
            <a:ext cx="900900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trike="noStrike" u="none">
                <a:solidFill>
                  <a:srgbClr val="253a44"/>
                </a:solidFill>
                <a:effectLst/>
                <a:uFillTx/>
                <a:latin typeface="Source Serif Pro"/>
              </a:rPr>
              <a:t>Exemplo de relacionamento Um-Para-Vários com cardinalidade mínima:</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aixaDeTexto 2"/>
          <p:cNvSpPr/>
          <p:nvPr/>
        </p:nvSpPr>
        <p:spPr>
          <a:xfrm>
            <a:off x="1818000" y="1083960"/>
            <a:ext cx="8231400" cy="462780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1" lang="pt-BR" sz="1800" strike="noStrike" u="none">
                <a:solidFill>
                  <a:srgbClr val="253a44"/>
                </a:solidFill>
                <a:effectLst/>
                <a:uFillTx/>
                <a:latin typeface="Source Serif Pro"/>
              </a:rPr>
              <a:t>Exemplo de relacionamento Vários-Para-Vários com cardinalidade mínima:</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defTabSz="914400">
              <a:lnSpc>
                <a:spcPct val="150000"/>
              </a:lnSpc>
            </a:pPr>
            <a:r>
              <a:rPr b="0" lang="pt-BR" sz="1800" strike="noStrike" u="none">
                <a:solidFill>
                  <a:srgbClr val="253a44"/>
                </a:solidFill>
                <a:effectLst/>
                <a:uFillTx/>
                <a:latin typeface="Source Serif Pro"/>
              </a:rPr>
              <a:t>Empréstimo - Livro (0,N:1,N)</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0" lang="pt-BR" sz="1800" strike="noStrike" u="none">
                <a:solidFill>
                  <a:srgbClr val="253a44"/>
                </a:solidFill>
                <a:effectLst/>
                <a:uFillTx/>
                <a:latin typeface="Source Serif Pro"/>
              </a:rPr>
              <a:t>Um empréstimo pode estar relacionado a um ou a vários livros.</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indent="-216000" defTabSz="914400">
              <a:lnSpc>
                <a:spcPct val="150000"/>
              </a:lnSpc>
              <a:buClr>
                <a:srgbClr val="253a44"/>
              </a:buClr>
              <a:buFont typeface="Arial"/>
              <a:buChar char="•"/>
            </a:pPr>
            <a:r>
              <a:rPr b="0" lang="pt-BR" sz="1800" strike="noStrike" u="none">
                <a:solidFill>
                  <a:srgbClr val="253a44"/>
                </a:solidFill>
                <a:effectLst/>
                <a:uFillTx/>
                <a:latin typeface="Source Serif Pro"/>
              </a:rPr>
              <a:t>Um livro pode estar relacionado a nenhum ou a vários empréstimos.</a:t>
            </a:r>
            <a:endParaRPr b="0" lang="pt-BR" sz="1800" strike="noStrike" u="none">
              <a:solidFill>
                <a:srgbClr val="000000"/>
              </a:solidFill>
              <a:effectLst/>
              <a:uFillTx/>
              <a:latin typeface="Arial"/>
            </a:endParaRPr>
          </a:p>
          <a:p>
            <a:pPr defTabSz="914400">
              <a:lnSpc>
                <a:spcPct val="150000"/>
              </a:lnSpc>
            </a:pPr>
            <a:endParaRPr b="0" lang="pt-BR" sz="1800" strike="noStrike" u="none">
              <a:solidFill>
                <a:srgbClr val="000000"/>
              </a:solidFill>
              <a:effectLst/>
              <a:uFillTx/>
              <a:latin typeface="Arial"/>
            </a:endParaRPr>
          </a:p>
          <a:p>
            <a:pPr defTabSz="914400">
              <a:lnSpc>
                <a:spcPct val="150000"/>
              </a:lnSpc>
            </a:pPr>
            <a:r>
              <a:rPr b="1" lang="pt-BR" sz="1800" strike="noStrike" u="none">
                <a:solidFill>
                  <a:srgbClr val="253a44"/>
                </a:solidFill>
                <a:effectLst/>
                <a:uFillTx/>
                <a:latin typeface="Source Serif Pro"/>
              </a:rPr>
              <a:t>Conclusão</a:t>
            </a:r>
            <a:r>
              <a:rPr b="0" lang="pt-BR" sz="1800" strike="noStrike" u="none">
                <a:solidFill>
                  <a:srgbClr val="253a44"/>
                </a:solidFill>
                <a:effectLst/>
                <a:uFillTx/>
                <a:latin typeface="Source Serif Pro"/>
              </a:rPr>
              <a:t>: Pode ser que um livro nunca seja emprestado, assim como pode haver livros que tenham sido emprestado várias vezes, porém um empréstimo deve conter pelo menos um livro ou pode conter vários.</a:t>
            </a:r>
            <a:endParaRPr b="0" lang="pt-B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396</TotalTime>
  <Application>LibreOffice/25.8.3.2$Windows_X86_64 LibreOffice_project/8ca8d55c161d602844f5428fa4b58097424e324e</Application>
  <AppVersion>15.0000</AppVersion>
  <Words>3384</Words>
  <Paragraphs>158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2023-01-30T14:23:05Z</dcterms:created>
  <dc:creator>Márcia Ferreira</dc:creator>
  <dc:description/>
  <dc:language>pt-BR</dc:language>
  <cp:lastModifiedBy/>
  <dcterms:modified xsi:type="dcterms:W3CDTF">2026-02-22T16:55:36Z</dcterms:modified>
  <cp:revision>18</cp:revision>
  <dc:subject/>
  <dc:title>Conteúdo programático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39</vt:i4>
  </property>
</Properties>
</file>