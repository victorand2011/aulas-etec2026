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67" r:id="rId14"/>
    <p:sldId id="268" r:id="rId15"/>
    <p:sldId id="271" r:id="rId16"/>
    <p:sldId id="269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9EF0F0-1A94-10C2-D4BD-06C2371870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9EE9AB7-BCB5-D05F-5A45-A78A7D55A0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D157C4-B2E0-B1E9-AFCB-8B84EAF62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AFA06-8F9A-4C59-840D-BA381F88C484}" type="datetimeFigureOut">
              <a:rPr lang="pt-BR" smtClean="0"/>
              <a:t>10/04/2023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0C2F075-813C-22B4-60B9-0B5F9C89E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3A4DA62-870E-A357-BF9A-B1ED7C169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23FE8-CEEA-452E-84FF-02653DAC07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0425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02ADD6-06CB-726C-A1A1-A94BB1030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967AA9-BFDB-8BCA-063A-26845E2D9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1964C5F-8132-138D-3B66-00A7F90E4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AFA06-8F9A-4C59-840D-BA381F88C484}" type="datetimeFigureOut">
              <a:rPr lang="pt-BR" smtClean="0"/>
              <a:t>10/04/2023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48CBE9-CB42-3759-CFB4-548519158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0ABDB63-4DC2-345E-572E-FA26CBCF5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23FE8-CEEA-452E-84FF-02653DAC07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8237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6EC6B9-3051-8FE3-CC30-716AE95E0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80C8B61-C16F-4043-EE72-8C755702B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25F3FDF-6678-4A4B-90C3-469F192F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AFA06-8F9A-4C59-840D-BA381F88C484}" type="datetimeFigureOut">
              <a:rPr lang="pt-BR" smtClean="0"/>
              <a:t>10/04/2023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0CBE2E4-A52A-A657-0F4E-70F454049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2EE2976-78AD-A05B-01D8-CB8024DC4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23FE8-CEEA-452E-84FF-02653DAC07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8776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9BD32C-011A-0C49-D9AB-39498A84B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FC5600-21E5-41DC-6612-DBFAF34320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0B376DB-CD27-FCA3-1C51-0A1C07A646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1041832-97F4-28FB-C0BF-E7FA72A8A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AFA06-8F9A-4C59-840D-BA381F88C484}" type="datetimeFigureOut">
              <a:rPr lang="pt-BR" smtClean="0"/>
              <a:t>10/04/2023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2189F7-FBA4-763D-EC32-D3D246542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1FA3884-0FB1-95C8-6A9C-DF1BE35BC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23FE8-CEEA-452E-84FF-02653DAC07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8855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CD4483-6A1F-825C-58BC-9D325388B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A7C1AF-CA04-4851-757C-D5CE63D12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1AEBE66-00F1-2C4F-DF58-3EC42FAE8F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4428FAF-C5BE-4029-1F75-2BFFF632A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4D05279-7321-418F-F561-EB49BBE0B3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C11D58F-513A-7850-2959-0D1DB6316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AFA06-8F9A-4C59-840D-BA381F88C484}" type="datetimeFigureOut">
              <a:rPr lang="pt-BR" smtClean="0"/>
              <a:t>10/04/2023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97FF3A7-E38D-EDC0-30BC-3087A5ECD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6398684-2EB7-4A6A-C858-F863FFA6F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23FE8-CEEA-452E-84FF-02653DAC07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0185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386DE7-1FAE-4035-E643-0396BE7A7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24C3B03-370A-0C38-E9C2-B6D2A2A0F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AFA06-8F9A-4C59-840D-BA381F88C484}" type="datetimeFigureOut">
              <a:rPr lang="pt-BR" smtClean="0"/>
              <a:t>10/04/2023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B7F1D6D-C0D8-97DD-BE2C-B09ED0702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35C64B0-80D9-7036-F931-77BD0C5C7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23FE8-CEEA-452E-84FF-02653DAC07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5253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E52D078-EDFC-DAAD-A952-344833A8C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AFA06-8F9A-4C59-840D-BA381F88C484}" type="datetimeFigureOut">
              <a:rPr lang="pt-BR" smtClean="0"/>
              <a:t>10/04/2023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D673C4B-BC02-707C-C508-442B1B105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7A8EBAF-EDE3-C204-4A00-A0A5F31AF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23FE8-CEEA-452E-84FF-02653DAC07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6177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25E2E3-7510-D609-6B40-052C91878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20C49A2-EB94-35E9-E02B-245F5ED96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82AF957-ED4A-0693-3A0E-07E8D7B33D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B68796D-26BF-4201-B370-4A5A214E8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AFA06-8F9A-4C59-840D-BA381F88C484}" type="datetimeFigureOut">
              <a:rPr lang="pt-BR" smtClean="0"/>
              <a:t>10/04/2023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81050B7-5BF3-5CE5-B4AE-C5B5D59D8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04D66CD-40F4-3DF2-1704-3754BF4BD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23FE8-CEEA-452E-84FF-02653DAC07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9371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77966B-99FA-6709-1F42-6F158F0CC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C4235F9-1F37-1590-90BB-D12BAFCD53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135EEFC-237C-8943-9394-6E03CEC176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154C55-B880-7A15-F89A-2922F4F6A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AFA06-8F9A-4C59-840D-BA381F88C484}" type="datetimeFigureOut">
              <a:rPr lang="pt-BR" smtClean="0"/>
              <a:t>10/04/2023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F3575F4-5BF7-2DE7-991A-25FBDCAFE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20FC2FF-9474-4396-8C83-605D37C36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23FE8-CEEA-452E-84FF-02653DAC07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7850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9960AF-B938-18E5-EAAA-57E3F762E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6A5C239-74B6-1092-47AB-C0E7FA0B24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9C89EE-EE51-AD9D-F505-541C436ED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AFA06-8F9A-4C59-840D-BA381F88C484}" type="datetimeFigureOut">
              <a:rPr lang="pt-BR" smtClean="0"/>
              <a:t>10/04/2023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865B232-462E-390E-81ED-0DABAA3ED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FCE5BA8-2DEB-25D8-2D54-BB7113D54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23FE8-CEEA-452E-84FF-02653DAC07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9905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6A607C0-48B7-8A12-F4EA-072F067652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23A9336-BF58-8474-3FAE-1E830ECE13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C3575D1-B986-DACA-0750-6FBF37438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AFA06-8F9A-4C59-840D-BA381F88C484}" type="datetimeFigureOut">
              <a:rPr lang="pt-BR" smtClean="0"/>
              <a:t>10/04/2023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D1CBDD0-874C-488C-E1A5-CAAAB1466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4BA4B6-491A-DF79-AC86-B8A9CC67F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23FE8-CEEA-452E-84FF-02653DAC07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3638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0878910-09B0-1604-282A-A64285061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B08B425-C67A-3D8E-7DF8-B98DE69CD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7BBABE9-B3B2-1251-C2D9-3D85DE2972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EAFA06-8F9A-4C59-840D-BA381F88C484}" type="datetimeFigureOut">
              <a:rPr lang="pt-BR" smtClean="0"/>
              <a:t>10/04/2023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2B40C5-3DBE-03E5-68EF-086CC55356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F2635D-1EC2-C2C1-9933-37B3C4CFA9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123FE8-CEEA-452E-84FF-02653DAC07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3207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9ABFD10E-B68C-733C-A1DF-2591386A0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137" y="114300"/>
            <a:ext cx="8467725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894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6227B47-0BD1-B9C3-84FB-7E785C804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862" y="1171575"/>
            <a:ext cx="8296275" cy="451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647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9DDC4ED-FB82-260F-361B-36B1B2D9C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4037" y="323850"/>
            <a:ext cx="8543925" cy="621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156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014B182-F2C8-BFD1-A271-B61186725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249815"/>
            <a:ext cx="5943600" cy="164782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0748200-6697-1EEE-4FE3-BDB27B86D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7302" y="1690254"/>
            <a:ext cx="7066453" cy="4522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947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68C84FE-A78E-92E2-55A9-7F7294BB4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712" y="819150"/>
            <a:ext cx="8410575" cy="521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907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F5672F4-353A-0A2F-FE9D-DA2325B2C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387" y="366712"/>
            <a:ext cx="8277225" cy="612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946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886B288-1158-7784-960C-F5FDC424E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087" y="1581150"/>
            <a:ext cx="7743825" cy="369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617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8C42165-E2CF-AD70-3F96-0AEB228A9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675" y="528637"/>
            <a:ext cx="8248650" cy="580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6701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E188551-7876-AF42-38B7-4BE5A1E7E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112" y="223837"/>
            <a:ext cx="8105775" cy="641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580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35D2BAD-2268-4285-7B97-A5994C9168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462" y="338137"/>
            <a:ext cx="7839075" cy="618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4767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A220CF2-70E0-1A77-EFE7-590A6E34A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8387" y="471487"/>
            <a:ext cx="7515225" cy="591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9249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F3FCE3F-7715-EE24-1E05-61A9A49C5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999" y="538798"/>
            <a:ext cx="6543675" cy="6204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2108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1E1E735-BAFB-E396-7B60-819F0F4C8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850" y="766762"/>
            <a:ext cx="77343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214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3AFE0FB9-A50E-E3E3-5225-C6ED504EEF9E}"/>
              </a:ext>
            </a:extLst>
          </p:cNvPr>
          <p:cNvSpPr txBox="1"/>
          <p:nvPr/>
        </p:nvSpPr>
        <p:spPr>
          <a:xfrm>
            <a:off x="1800313" y="736115"/>
            <a:ext cx="713858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400" b="1" dirty="0">
                <a:solidFill>
                  <a:schemeClr val="accent6">
                    <a:lumMod val="50000"/>
                  </a:schemeClr>
                </a:solidFill>
              </a:rPr>
              <a:t>E o que são atributos?</a:t>
            </a:r>
          </a:p>
          <a:p>
            <a:pPr algn="just"/>
            <a:endParaRPr lang="pt-BR" sz="2400" dirty="0">
              <a:solidFill>
                <a:schemeClr val="accent6">
                  <a:lumMod val="75000"/>
                </a:schemeClr>
              </a:solidFill>
            </a:endParaRPr>
          </a:p>
          <a:p>
            <a:pPr algn="just"/>
            <a:endParaRPr lang="pt-BR" sz="2400" dirty="0">
              <a:solidFill>
                <a:schemeClr val="accent6">
                  <a:lumMod val="75000"/>
                </a:schemeClr>
              </a:solidFill>
            </a:endParaRPr>
          </a:p>
          <a:p>
            <a:pPr algn="just"/>
            <a:r>
              <a:rPr lang="pt-BR" sz="2400" dirty="0">
                <a:solidFill>
                  <a:schemeClr val="accent6">
                    <a:lumMod val="75000"/>
                  </a:schemeClr>
                </a:solidFill>
              </a:rPr>
              <a:t>Os atributos descrevem as propriedades das entidades. A entidade pessoa pode ter como atributo o nome, data de nascimento, idade, endereço. Como as entidades, também existem alguns tipos de atributos, que são: os atributos </a:t>
            </a:r>
            <a:r>
              <a:rPr lang="pt-BR" sz="2400" b="1" dirty="0">
                <a:solidFill>
                  <a:schemeClr val="accent6">
                    <a:lumMod val="75000"/>
                  </a:schemeClr>
                </a:solidFill>
              </a:rPr>
              <a:t>simples, atributos compostos, atributos multivalorados, atributos derivados e atributos chave</a:t>
            </a:r>
            <a:r>
              <a:rPr lang="pt-BR" sz="2400" dirty="0">
                <a:solidFill>
                  <a:schemeClr val="accent6">
                    <a:lumMod val="75000"/>
                  </a:schemeClr>
                </a:solidFill>
              </a:rPr>
              <a:t>. Agora veremos cada um deles:</a:t>
            </a:r>
          </a:p>
        </p:txBody>
      </p:sp>
    </p:spTree>
    <p:extLst>
      <p:ext uri="{BB962C8B-B14F-4D97-AF65-F5344CB8AC3E}">
        <p14:creationId xmlns:p14="http://schemas.microsoft.com/office/powerpoint/2010/main" val="21813598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C4B107E-2F8B-75A3-5FE6-25FDC42F2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356" y="0"/>
            <a:ext cx="73732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9316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2EF322F7-BD31-1DC2-F5B5-1C19B9C7E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412" y="904875"/>
            <a:ext cx="8639175" cy="50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3214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D7A7DD6-CD1C-F046-DA39-30B826145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4880" y="990600"/>
            <a:ext cx="859155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3165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CE2F69A-7026-D856-30F5-35D8D8A11C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612" y="881062"/>
            <a:ext cx="8486775" cy="509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5868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85F1117-F5C9-E6C2-5E93-0EC4F1CC0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886" y="1366837"/>
            <a:ext cx="8191500" cy="229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917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BA26B15-8CB2-EA55-C5DB-1556D4B9B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900" y="1204191"/>
            <a:ext cx="845820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2913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5DC8C65-24B2-92BB-795A-666BD5498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6435" y="1025943"/>
            <a:ext cx="8506691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93366"/>
                </a:solidFill>
                <a:effectLst/>
                <a:latin typeface="Inter"/>
              </a:rPr>
              <a:t>Nesse cenário podemos identificar como 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rgbClr val="093366"/>
                </a:solidFill>
                <a:effectLst/>
                <a:latin typeface="Inter"/>
              </a:rPr>
              <a:t>entidades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93366"/>
                </a:solidFill>
                <a:effectLst/>
                <a:latin typeface="Inter"/>
              </a:rPr>
              <a:t>: 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93366"/>
                </a:solidFill>
                <a:effectLst/>
                <a:latin typeface="Arial Unicode MS"/>
              </a:rPr>
              <a:t>aluno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93366"/>
                </a:solidFill>
                <a:effectLst/>
                <a:latin typeface="Inter"/>
              </a:rPr>
              <a:t>, 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93366"/>
                </a:solidFill>
                <a:effectLst/>
                <a:latin typeface="Arial Unicode MS"/>
              </a:rPr>
              <a:t>curso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93366"/>
                </a:solidFill>
                <a:effectLst/>
                <a:latin typeface="Inter"/>
              </a:rPr>
              <a:t> e 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93366"/>
                </a:solidFill>
                <a:effectLst/>
                <a:latin typeface="Arial Unicode MS"/>
              </a:rPr>
              <a:t>professor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93366"/>
                </a:solidFill>
                <a:effectLst/>
                <a:latin typeface="Inter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rgbClr val="093366"/>
              </a:solidFill>
              <a:effectLst/>
              <a:latin typeface="Inter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93366"/>
                </a:solidFill>
                <a:effectLst/>
                <a:latin typeface="Inter"/>
              </a:rPr>
              <a:t>Portanto, os atributos da entidade 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rgbClr val="093366"/>
                </a:solidFill>
                <a:effectLst/>
                <a:latin typeface="Inter"/>
              </a:rPr>
              <a:t>aluno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93366"/>
                </a:solidFill>
                <a:effectLst/>
                <a:latin typeface="Inter"/>
              </a:rPr>
              <a:t> serão 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93366"/>
                </a:solidFill>
                <a:effectLst/>
                <a:latin typeface="Arial Unicode MS"/>
              </a:rPr>
              <a:t>nome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93366"/>
                </a:solidFill>
                <a:effectLst/>
                <a:latin typeface="Inter"/>
              </a:rPr>
              <a:t>, 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93366"/>
                </a:solidFill>
                <a:effectLst/>
                <a:latin typeface="Arial Unicode MS"/>
              </a:rPr>
              <a:t>data de nascimento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93366"/>
                </a:solidFill>
                <a:effectLst/>
                <a:latin typeface="Inter"/>
              </a:rPr>
              <a:t> e 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93366"/>
                </a:solidFill>
                <a:effectLst/>
                <a:latin typeface="Arial Unicode MS"/>
              </a:rPr>
              <a:t>idade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93366"/>
                </a:solidFill>
                <a:effectLst/>
                <a:latin typeface="Inter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93366"/>
                </a:solidFill>
                <a:effectLst/>
                <a:latin typeface="Inter"/>
              </a:rPr>
              <a:t>Os atributos da entidade 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rgbClr val="093366"/>
                </a:solidFill>
                <a:effectLst/>
                <a:latin typeface="Inter"/>
              </a:rPr>
              <a:t>curso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93366"/>
                </a:solidFill>
                <a:effectLst/>
                <a:latin typeface="Inter"/>
              </a:rPr>
              <a:t> serão 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93366"/>
                </a:solidFill>
                <a:effectLst/>
                <a:latin typeface="Arial Unicode MS"/>
              </a:rPr>
              <a:t>descrição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93366"/>
                </a:solidFill>
                <a:effectLst/>
                <a:latin typeface="Inter"/>
              </a:rPr>
              <a:t> e 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93366"/>
                </a:solidFill>
                <a:effectLst/>
                <a:latin typeface="Arial Unicode MS"/>
              </a:rPr>
              <a:t>quantidade de alunos inscritos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93366"/>
                </a:solidFill>
                <a:effectLst/>
                <a:latin typeface="Inter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93366"/>
                </a:solidFill>
                <a:effectLst/>
                <a:latin typeface="Inter"/>
              </a:rPr>
              <a:t>A entidade 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rgbClr val="093366"/>
                </a:solidFill>
                <a:effectLst/>
                <a:latin typeface="Inter"/>
              </a:rPr>
              <a:t>Professor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93366"/>
                </a:solidFill>
                <a:effectLst/>
                <a:latin typeface="Inter"/>
              </a:rPr>
              <a:t> tem como atributo único o 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93366"/>
                </a:solidFill>
                <a:effectLst/>
                <a:latin typeface="Arial Unicode MS"/>
              </a:rPr>
              <a:t>nome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93366"/>
                </a:solidFill>
                <a:effectLst/>
                <a:latin typeface="Inter"/>
              </a:rPr>
              <a:t>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pt-BR" altLang="pt-BR" sz="2400" dirty="0">
              <a:solidFill>
                <a:srgbClr val="093366"/>
              </a:solidFill>
              <a:latin typeface="Inter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rgbClr val="093366"/>
              </a:solidFill>
              <a:effectLst/>
              <a:latin typeface="Inter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93366"/>
                </a:solidFill>
                <a:effectLst/>
                <a:latin typeface="Inter"/>
              </a:rPr>
              <a:t>Assim podemos representar de forma gráfica as entidades e os atributos identificados, como na imagem abaixo: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1314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0835FCD-F8D3-6464-5396-F2C106573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810" y="940891"/>
            <a:ext cx="7799106" cy="3509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8686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529DD92-FC6F-688B-6B63-D15833AE6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0691" y="742836"/>
            <a:ext cx="8252546" cy="6015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9308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F2A634C-334B-44B9-47E0-1969BA332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300" y="1576387"/>
            <a:ext cx="7391400" cy="370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9679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138</Words>
  <Application>Microsoft Office PowerPoint</Application>
  <PresentationFormat>Widescreen</PresentationFormat>
  <Paragraphs>13</Paragraphs>
  <Slides>24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30" baseType="lpstr">
      <vt:lpstr>Arial</vt:lpstr>
      <vt:lpstr>Arial Unicode MS</vt:lpstr>
      <vt:lpstr>Calibri</vt:lpstr>
      <vt:lpstr>Calibri Light</vt:lpstr>
      <vt:lpstr>Inter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Márcia Ferreira</dc:creator>
  <cp:lastModifiedBy>Márcia Ferreira</cp:lastModifiedBy>
  <cp:revision>2</cp:revision>
  <dcterms:created xsi:type="dcterms:W3CDTF">2023-03-09T20:42:34Z</dcterms:created>
  <dcterms:modified xsi:type="dcterms:W3CDTF">2023-04-10T23:18:33Z</dcterms:modified>
</cp:coreProperties>
</file>